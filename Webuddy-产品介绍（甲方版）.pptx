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研究数据来源：Xia 等，ICSE 2018（58%）；Stack Overflow 开发者调查 2024（47%）；Gloria Mark，经 Fast Company 报道（23 分钟）；arXiv 1604.06766（65%）。一线原话从 V2EX 上 36 条公开讨论中选取，均为转述，分别对应：知识只在人脑子里、不敢改、承诺先于评估。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运维：确认范围和审方案两步不是每张单都有，看单子的影响面；验证不通过智能体自动重改，最多 3 轮，仍不通过交给人；验收不通过须写明原因，原因记为教训。重构：人先写目标和不能变的东西（比如对外接口完全不变）；平台按业务域拆分，按和其他域共用表的多少排顺序；先做公共骨架，骨架验收通过前只放这一张；通过后其余业务域一次放出、并行改，每个都从骨架的分支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截图为示例项目数据：40 张开源工单已由智能体改完，其中 35 张在等人工验收，所以闭环完成率还是 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工单取自 JeecgBoot 开源仓库，在示例项目里由平台处理，界面截图见缺陷修复那页。原因已读代码核实：Swagger3Config.java 第 97–99 行把 X-Access-Token 声明成了 HTTP 鉴权，后台读取的是同名自定义请求头。改动在分支 tmh/JB-17-r215。这张单处理时设置为不跑构建测试，没有经过测试机；目前停在人工验收。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截图是在示例项目（JeecgBoot）上建的一个依赖升级计划：Spring Boot 2.7 升级到 3.x，拆成先导部分加 6 个业务域。这个计划还没有放出工单，截图只用来说明计划长什么样。真实跑完的计划见下一页。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截图为真实运行数据：开源项目 RealWorld 的 .NET 后端，按“骨架 + 7 个业务域”分批改写为 Java + 达梦。先导“骨架”已验收闭环，其余 7 部分已改好、6 部分等人验收。8 个部分里 7 个在测试机上编译通过，规范 19 个接口改出 18 个；每部分智能体实际运行 19 到 41 分钟。没过的两处都由平台自己的诊断指出：RW-2 编译不过，RW-3 漏了一个接口，这正是要人验收的原因。这一轮没有跑接口测试，只能说编译通过、接口 18/19，不能说功能已验证。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截图为真实运行数据：RealWorld .NET 后端改写为 Java + 达梦。RW-1 先导骨架已验收关闭，RW-2 在重改，其余 6 张等人验收。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截图为真实运行数据：RW-4“文章收藏”业务域。智能体查了 42 处代码，新增 5 个文件，构建测试通过，改动在分支 tmh/RW-4-r20，等人验收。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RealWorld 是有官方 .NET 和 Java 两个实现的开源项目，用来对照。Java 参考版放在项目外，改代码的智能体看不到。8 个部分里 7 个在测试机上编译通过：没过的是“文章标签”域（RW-2）；“用户资料查询”域（RW-3）漏了 GET /api/profiles/{username}。这一轮没有跑接口测试，只能说编译通过、接口 18/19，不能说功能已验证。达梦目前只做到写法和配置，测试机上用 H2。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代码快照：提交 84f46c214260780c02d6af085a1b2e44af224405（2025-02-06，pom 版本 3.7.2），是 40 张单各自修复前提交的共同祖先。隔离程度：223 次运行里智能体调了 339 次 git log/show/blame/diff，没有一次看别的分支；但本地仓库里确实存有后来的提交，提示词也没有专门禁止，所以只能说没给它、日志里也没看过，不能说技术上完全隔离。评审由 AI 逐张对照 diff 完成，记录在 report-notes.json，目前还没有人工复核。模型为 Codex（日志显示 gpt-6.1-sol）；每张单 token 中位数约 34 万，没有记录真实金额。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工单和官方修复取自 JeecgBoot 开源仓库 https://github.com/jeecgboot/JeecgBoot ，JB 号与 GitHub issue 一一对应。评审逐张对照官方修复的 diff，判断智能体的改法和官方方向是否一致。方向不对的 6 张是 JB-10、12、16、19、23、27。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RealWorld（Conduit）是一个有多种语言官方实现的开源示例项目，功能由同一份 OpenAPI 规范定义，规范还自带 Hurl 接口测试。这一轮还没跑 Hurl 接口测试；测试机上没有达梦，单元测试用 H2，达梦只做到写法和配置。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数字取自 RealWorld 重写测试报告。用时是智能体实际运行时间。“文章标签”部分在测试机上没编译过、平台诊断不通过，正在重改；“用户资料查询”部分漏了 GET /api/profiles/{username}。两处都是平台自己的诊断和对照报告指出来的，这也是每批都要人验收的原因。这一轮没有跑接口测试，只能说编译通过、接口 18/19，不能说功能已验证。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RSI 在这里指工作流层面的自我改进：验收结论变成教训和评测用例，影响之后的提示词和上线决策；不是训练或修改模型本身。教训来自对照官方修复的复盘。回放时每张单都排除它自己的教训，找全率还要等回放结果。“人手省下来、接更多项目”是飞轮要达到的目标，目前还没有长期数据能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回流：验收教训和评测用例回到编排层，知识修正回到知识库。可扩展服务尚未开发。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整套平台以离线安装包部署在客户内网。代码知识库在本地解析生成，不消耗模型费用。模型可接 Kimi、GLM 等国产模型。智能体只在每张工单的独立分支（tmh/工单号）上提交，合入主干由人操作。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这一页是路线图，右侧三个阶段里“下一步”和“之后”是计划，没有时间承诺。从下往上看：最下面是企业 AI 平台，往上是各领域 harness，最上面每格是一项具体能力，每个 harness 上方两格。现状要讲清楚：运维和重构已经在做，接口适配和资源维护还没开发。实测过的是 Java 代码修改（JeecgBoot 40 张开源工单）和跨语言重写（.NET 版 RealWorld 改写为 Java，8 部分里 7 部分编译通过，19 个接口做出 18 个）；框架迁移平台里能建计划，还没有真实项目跑过；.NET、Go、Python 修改，以及接口适配、资源维护下面的四项，都还没开发。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定位/商业交付模式-思路.md。我们不是咨询公司：按人天收钱时平台越好收入越少；维保模式下效率提升归我们自己。也不先卖软件：政企采购周期长，装了没人用、续费难。代码、提示词、用哪个模型都不是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pic>
        <p:nvPicPr>
          <p:cNvPr id="3" name="Picture 2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914400"/>
            <a:ext cx="6949440" cy="3952723"/>
          </a:xfrm>
          <a:prstGeom prst="rect">
            <a:avLst/>
          </a:prstGeom>
          <a:ln w="9525">
            <a:solidFill>
              <a:srgbClr val="C9D2E3"/>
            </a:solidFill>
          </a:ln>
        </p:spPr>
      </p:pic>
      <p:pic>
        <p:nvPicPr>
          <p:cNvPr id="4" name="Picture 3" descr="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023360"/>
            <a:ext cx="3931920" cy="2194329"/>
          </a:xfrm>
          <a:prstGeom prst="rect">
            <a:avLst/>
          </a:prstGeom>
          <a:ln w="9525">
            <a:solidFill>
              <a:srgbClr val="C9D2E3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233172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>
                <a:solidFill>
                  <a:srgbClr val="141414"/>
                </a:solidFill>
                <a:latin typeface="Helvetica Neue"/>
                <a:ea typeface="PingFang SC"/>
              </a:rPr>
              <a:t>Webuddy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>
                <a:solidFill>
                  <a:srgbClr val="2B2B2B"/>
                </a:solidFill>
                <a:latin typeface="Helvetica Neue"/>
                <a:ea typeface="PingFang SC"/>
              </a:rPr>
              <a:t>老系统维保：需求答复、缺陷修复、分批重构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4114800"/>
            <a:ext cx="548640" cy="0"/>
          </a:xfrm>
          <a:prstGeom prst="line">
            <a:avLst/>
          </a:prstGeom>
          <a:ln w="28575">
            <a:solidFill>
              <a:srgbClr val="1F4AA8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2026 年 10 月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2233696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老系统的知识只在少数人脑子里，开发一半以上的时间在读代码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  <a:ea typeface="PingFang SC"/>
              </a:rPr>
              <a:t>一个开发的工作时间里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057400"/>
            <a:ext cx="11091672" cy="530352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6433169" cy="53035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 Neue"/>
                <a:ea typeface="PingFang SC"/>
              </a:rPr>
              <a:t>58%</a:t>
            </a:r>
            <a:r>
              <a:rPr sz="1400" b="0">
                <a:solidFill>
                  <a:srgbClr val="FFFFFF"/>
                </a:solidFill>
                <a:latin typeface="Helvetica Neue"/>
                <a:ea typeface="PingFang SC"/>
              </a:rPr>
              <a:t>  在读懂代码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64689" y="2057400"/>
            <a:ext cx="41148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  <a:ea typeface="PingFang SC"/>
              </a:rPr>
              <a:t>其余 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79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78 名开发、3,148 个工时的现场观测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研究数据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2918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一线原话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639312"/>
            <a:ext cx="6492239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452360" y="3639312"/>
            <a:ext cx="4187952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548640" y="3995928"/>
            <a:ext cx="1737360" cy="20116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95928"/>
            <a:ext cx="816559" cy="201168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379476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47%</a:t>
            </a: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 的开发每天至少花 30 分钟回答别人的问题，七成半重复回答过同一个问题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590288"/>
            <a:ext cx="6492239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48640" y="4864608"/>
            <a:ext cx="486460" cy="20116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5100" y="4864608"/>
            <a:ext cx="764438" cy="201168"/>
          </a:xfrm>
          <a:prstGeom prst="rect">
            <a:avLst/>
          </a:prstGeom>
          <a:solidFill>
            <a:srgbClr val="FBE7DD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99539" y="4864608"/>
            <a:ext cx="486460" cy="201168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035100" y="4754880"/>
            <a:ext cx="0" cy="420624"/>
          </a:xfrm>
          <a:prstGeom prst="line">
            <a:avLst/>
          </a:prstGeom>
          <a:ln w="15875">
            <a:solidFill>
              <a:srgbClr val="D9622B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2560320" y="466344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23 分钟</a:t>
            </a: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：被打断一次，平均要这么久才回到原来的任务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458968"/>
            <a:ext cx="6492239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548640" y="5733288"/>
            <a:ext cx="1737360" cy="20116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33288"/>
            <a:ext cx="1129284" cy="201168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553212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65%</a:t>
            </a: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 的热门开源项目，走掉 1 到 2 个人就会陷入危机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794760"/>
            <a:ext cx="41879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问报表字段怎么算，经理只说“自己看代码”。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52360" y="4590288"/>
            <a:ext cx="418795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452360" y="4663440"/>
            <a:ext cx="41879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花两周修好的金额精度 bug，被重构“简化”回去，单测全过。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52360" y="5458968"/>
            <a:ext cx="418795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452360" y="5532120"/>
            <a:ext cx="418795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售前判断不了方案能不能落地，只能去问技术，否则容易乱报价。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02</a:t>
            </a:r>
          </a:p>
        </p:txBody>
      </p:sp>
      <p:pic>
        <p:nvPicPr>
          <p:cNvPr id="32" name="Picture 3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运维一张单一张单地处理，重构按计划分批推进，关键几步都由人拍板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92440" y="1783080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详见第 4–7 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35440" y="1783080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48088" y="1783080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60736" y="1783080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73384" y="1783080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414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73736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需求答复、缺陷修复、日常维护，按单处理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731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52928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52928"/>
            <a:ext cx="731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19" y="2980944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受理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8321" y="2212848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确认范围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9721" y="259689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需求人员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9322" y="2980944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定位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0323" y="2980944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出方案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21324" y="2212848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审方案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2724" y="259689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开发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2325" y="2980944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修改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3325" y="2980944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验证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74327" y="2212848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5727" y="259689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验收人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25328" y="2212848"/>
            <a:ext cx="896112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合入主干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96728" y="2596896"/>
            <a:ext cx="13533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项目团队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2331720" y="2404872"/>
            <a:ext cx="218313" cy="768096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>
            <a:off x="3482721" y="2404872"/>
            <a:ext cx="218313" cy="768096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29" name="Connector 28"/>
          <p:cNvCxnSpPr/>
          <p:nvPr/>
        </p:nvCxnSpPr>
        <p:spPr>
          <a:xfrm>
            <a:off x="4633721" y="3172968"/>
            <a:ext cx="218314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 flipV="1">
            <a:off x="5784723" y="2404872"/>
            <a:ext cx="218313" cy="768096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6935723" y="2404872"/>
            <a:ext cx="218314" cy="768096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8086725" y="3172968"/>
            <a:ext cx="218313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 flipV="1">
            <a:off x="9237726" y="2404872"/>
            <a:ext cx="218313" cy="768096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>
            <a:off x="10388727" y="2404872"/>
            <a:ext cx="218313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7479792" y="3749039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详见第 8–12 页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22792" y="3749039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3749039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48088" y="3749039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460736" y="3749039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073384" y="3749039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703320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41414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3703320"/>
            <a:ext cx="7315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跨语言重写、框架迁移、依赖升级等，按改造计划分批推进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114800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4114800"/>
            <a:ext cx="731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818888"/>
            <a:ext cx="11091672" cy="658368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4818888"/>
            <a:ext cx="731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17319" y="4178808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定目标和约束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19" y="45628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项目负责人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903220" y="4946903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拆分业务域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89120" y="4946903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改公共骨架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75020" y="4178808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验收骨架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46420" y="45628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验收人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60920" y="4946903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各域并行改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46820" y="4178808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逐域验收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8220" y="45628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验收人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332720" y="4178808"/>
            <a:ext cx="1188720" cy="384048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Helvetica Neue"/>
                <a:ea typeface="PingFang SC"/>
              </a:rPr>
              <a:t>合入主干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20" y="4562856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F4AA8"/>
                </a:solidFill>
                <a:latin typeface="Helvetica Neue"/>
                <a:ea typeface="PingFang SC"/>
              </a:rPr>
              <a:t>项目团队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624327" y="4370832"/>
            <a:ext cx="260605" cy="76809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59" name="Connector 58"/>
          <p:cNvCxnSpPr/>
          <p:nvPr/>
        </p:nvCxnSpPr>
        <p:spPr>
          <a:xfrm>
            <a:off x="4110227" y="5138927"/>
            <a:ext cx="260605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60" name="Connector 59"/>
          <p:cNvCxnSpPr/>
          <p:nvPr/>
        </p:nvCxnSpPr>
        <p:spPr>
          <a:xfrm flipV="1">
            <a:off x="5596127" y="4370832"/>
            <a:ext cx="260605" cy="76809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61" name="Connector 60"/>
          <p:cNvCxnSpPr/>
          <p:nvPr/>
        </p:nvCxnSpPr>
        <p:spPr>
          <a:xfrm>
            <a:off x="7082027" y="4370832"/>
            <a:ext cx="260605" cy="76809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62" name="Connector 61"/>
          <p:cNvCxnSpPr/>
          <p:nvPr/>
        </p:nvCxnSpPr>
        <p:spPr>
          <a:xfrm flipV="1">
            <a:off x="8567928" y="4370832"/>
            <a:ext cx="260604" cy="768095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63" name="Connector 62"/>
          <p:cNvCxnSpPr/>
          <p:nvPr/>
        </p:nvCxnSpPr>
        <p:spPr>
          <a:xfrm>
            <a:off x="10053828" y="4370832"/>
            <a:ext cx="260604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两套流程里，智能体都只在独立分支上改代码，改完先在测试机上构建；合入主干都由人操作。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03</a:t>
            </a: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看板上能看到每张工单停在哪一步、在等谁处理</a:t>
            </a:r>
          </a:p>
        </p:txBody>
      </p:sp>
      <p:pic>
        <p:nvPicPr>
          <p:cNvPr id="3" name="Picture 2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766560" cy="38039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84441" y="1722966"/>
            <a:ext cx="6694956" cy="644434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279398" y="2045183"/>
            <a:ext cx="511290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7863840" y="1889735"/>
            <a:ext cx="37764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四项比率按项目实时计算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闭环完成率、分析覆盖率、改动采纳率、知识库覆盖率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13700" y="4421535"/>
            <a:ext cx="447523" cy="559404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61224" y="4701237"/>
            <a:ext cx="2829464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863840" y="4545789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待确认：技术负责人确认方案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2615" y="4421535"/>
            <a:ext cx="447523" cy="559404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587752" y="4701237"/>
            <a:ext cx="314863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85800" y="454578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待验证：验收人验收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200400"/>
            <a:ext cx="3749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Helvetica Neue"/>
                <a:ea typeface="PingFang SC"/>
              </a:rPr>
              <a:t>其余四个状态由智能体推进：分析定位、在独立分支上修改、构建与测试、验收通过后归档。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04</a:t>
            </a:r>
          </a:p>
        </p:txBody>
      </p:sp>
      <p:pic>
        <p:nvPicPr>
          <p:cNvPr id="26" name="Picture 2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实施人员问的需求问题，当场就能拿到带代码位置的答复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4572000" cy="132588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实施人员提问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76272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“用户管理能不能按部门批量导出用户？现在系统做到哪一步了？”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4480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答不了的问题转给对应的开发；开发的答复写回知识库，同类问题下次直接答。</a:t>
            </a:r>
          </a:p>
        </p:txBody>
      </p:sp>
      <p:pic>
        <p:nvPicPr>
          <p:cNvPr id="7" name="Picture 6" descr="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1788" y="1737360"/>
            <a:ext cx="2928523" cy="4434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95897" y="2716083"/>
            <a:ext cx="2783244" cy="1101063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510620" y="3266615"/>
            <a:ext cx="285277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328508" y="3111167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结论写明边界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只给出相关位置，不替人判断能不能做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86455" y="4046535"/>
            <a:ext cx="2462100" cy="2095079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510620" y="5094075"/>
            <a:ext cx="575835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328508" y="4938627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依据列出接口、读写的表和代码文件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05</a:t>
            </a:r>
          </a:p>
        </p:txBody>
      </p:sp>
      <p:pic>
        <p:nvPicPr>
          <p:cNvPr id="26" name="Picture 2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缺陷由智能体定位和修改，人只确认方案、做验收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1719072" cy="502920"/>
          </a:xfrm>
          <a:prstGeom prst="roundRect">
            <a:avLst>
              <a:gd name="adj" fmla="val 12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受理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1943100"/>
            <a:ext cx="118872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5" name="Rounded Rectangle 4"/>
          <p:cNvSpPr/>
          <p:nvPr/>
        </p:nvSpPr>
        <p:spPr>
          <a:xfrm>
            <a:off x="2423160" y="1691640"/>
            <a:ext cx="1719072" cy="502920"/>
          </a:xfrm>
          <a:prstGeom prst="roundRect">
            <a:avLst>
              <a:gd name="adj" fmla="val 12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定位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60519" y="1943100"/>
            <a:ext cx="118873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7" name="Rounded Rectangle 6"/>
          <p:cNvSpPr/>
          <p:nvPr/>
        </p:nvSpPr>
        <p:spPr>
          <a:xfrm>
            <a:off x="4297679" y="1691640"/>
            <a:ext cx="1719072" cy="502920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  <a:ea typeface="PingFang SC"/>
              </a:rPr>
              <a:t>确认方案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35039" y="1943100"/>
            <a:ext cx="118873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6172199" y="1691640"/>
            <a:ext cx="1719072" cy="502920"/>
          </a:xfrm>
          <a:prstGeom prst="roundRect">
            <a:avLst>
              <a:gd name="adj" fmla="val 12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修改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09559" y="1943100"/>
            <a:ext cx="118872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11" name="Rounded Rectangle 10"/>
          <p:cNvSpPr/>
          <p:nvPr/>
        </p:nvSpPr>
        <p:spPr>
          <a:xfrm>
            <a:off x="8046719" y="1691640"/>
            <a:ext cx="1719072" cy="502920"/>
          </a:xfrm>
          <a:prstGeom prst="roundRect">
            <a:avLst>
              <a:gd name="adj" fmla="val 12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验证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784080" y="1943100"/>
            <a:ext cx="118872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9921240" y="1691640"/>
            <a:ext cx="1719072" cy="502920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  <a:ea typeface="PingFang SC"/>
              </a:rPr>
              <a:t>验收</a:t>
            </a:r>
          </a:p>
        </p:txBody>
      </p:sp>
      <p:pic>
        <p:nvPicPr>
          <p:cNvPr id="14" name="Picture 13" descr="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06040"/>
            <a:ext cx="5898500" cy="32918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25286" y="2948629"/>
            <a:ext cx="5332482" cy="685179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357769" y="3291219"/>
            <a:ext cx="519139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950060" y="3135771"/>
            <a:ext cx="46902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根因分开标出【核实】和【推断】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核实：读代码确认过；推断：模型的判断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5076" y="4050874"/>
            <a:ext cx="2621555" cy="223428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676632" y="4162588"/>
            <a:ext cx="3200276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950060" y="4007140"/>
            <a:ext cx="46902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验收前可见核实、推断各几条，涉及几处代码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5076" y="4914796"/>
            <a:ext cx="5302692" cy="863921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357769" y="5346757"/>
            <a:ext cx="519139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950060" y="5191309"/>
            <a:ext cx="469025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验收不通过须写明原因，智能体据此重改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0060" y="5623560"/>
            <a:ext cx="469025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  <a:ea typeface="PingFang SC"/>
              </a:rPr>
              <a:t>智能体只在独立分支上修改，验证不通过时自动重改，最多 3 轮；合入主干由人操作。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06</a:t>
            </a:r>
          </a:p>
        </p:txBody>
      </p:sp>
      <p:pic>
        <p:nvPicPr>
          <p:cNvPr id="37" name="Picture 3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修好一张接口文档的缺陷，人只需要在最后验收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74519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谁来做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1874519"/>
            <a:ext cx="7799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这一单上发生了什么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58568"/>
            <a:ext cx="11091672" cy="0"/>
          </a:xfrm>
          <a:prstGeom prst="line">
            <a:avLst/>
          </a:prstGeom>
          <a:ln w="15875">
            <a:solidFill>
              <a:srgbClr val="141414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548640" y="2276856"/>
            <a:ext cx="11091672" cy="713231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提交问题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58568"/>
            <a:ext cx="1143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报告人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58568"/>
            <a:ext cx="7799831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在接口文档页面测试接口时，请求没有自动带上登录凭证，测不了。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008375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85800" y="3008375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找原因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08375"/>
            <a:ext cx="1143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008375"/>
            <a:ext cx="7799831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查了 29 处相关代码，确认是接口文档的凭证配置和后台的读取方式对不上。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758183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85800" y="3758183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出方案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758183"/>
            <a:ext cx="1143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58183"/>
            <a:ext cx="7799831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只改一个配置文件，业务接口和数据库都不动。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507992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85800" y="4507992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改代码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507992"/>
            <a:ext cx="1143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507992"/>
            <a:ext cx="7799831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改动放在单独的分支上，正式代码保持原样。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257800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548640" y="5276088"/>
            <a:ext cx="11091672" cy="713231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57800"/>
            <a:ext cx="13258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验收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257800"/>
            <a:ext cx="11430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验收人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5257800"/>
            <a:ext cx="7799831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在页面上实际试一遍：通过就关单；不通过写明原因退回，智能体照着重改。这张单正在等这一步。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007608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07</a:t>
            </a: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一个改造目标进来，平台先按业务域拆成几块，牵连少的先做</a:t>
            </a:r>
          </a:p>
        </p:txBody>
      </p:sp>
      <p:pic>
        <p:nvPicPr>
          <p:cNvPr id="3" name="Picture 2" descr="r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223760" cy="38698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5971" y="2977484"/>
            <a:ext cx="4987834" cy="406097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593805" y="3291840"/>
            <a:ext cx="2516922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183879" y="3136392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写清改造目标和不能变的东西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例如对外接口路径、返回格式、表结构都不变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8281" y="3718015"/>
            <a:ext cx="716642" cy="1648278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96603" y="5366294"/>
            <a:ext cx="0" cy="394426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4996603" y="5760720"/>
            <a:ext cx="3114124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183879" y="5605272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每块列出涉及的业务流和数据表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来自平台对整个项目的分析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0219" y="3718015"/>
            <a:ext cx="267546" cy="1648278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797765" y="4542155"/>
            <a:ext cx="1312962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183879" y="4386707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按牵连高低排先后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和其他块共用的表越少，越先做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12428" y="2977484"/>
            <a:ext cx="783529" cy="133773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7304193" y="2103120"/>
            <a:ext cx="0" cy="874364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4193" y="2103120"/>
            <a:ext cx="806534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183879" y="1947672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先放出公共的先导部分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验收通过后，自动放出下一批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08</a:t>
            </a:r>
          </a:p>
        </p:txBody>
      </p:sp>
      <p:pic>
        <p:nvPicPr>
          <p:cNvPr id="30" name="Picture 29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重构按业务域一批批做，每批验收通过才继续</a:t>
            </a:r>
          </a:p>
        </p:txBody>
      </p:sp>
      <p:pic>
        <p:nvPicPr>
          <p:cNvPr id="3" name="Picture 2" descr="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223760" cy="410875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05971" y="3001372"/>
            <a:ext cx="7061320" cy="200659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667292" y="3101702"/>
            <a:ext cx="443435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183879" y="2946254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对外接口与原系统保持一致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路径、状态码和 JSON 字段都是验收标准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23791" y="3698905"/>
            <a:ext cx="286657" cy="167216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310448" y="4534988"/>
            <a:ext cx="1800279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183879" y="4379540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按与其他域共用表的多少排序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先做公共骨架，再从牵连最少的域做起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192" y="5437958"/>
            <a:ext cx="2857016" cy="429985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501208" y="5652951"/>
            <a:ext cx="4609519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183879" y="5497503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先导验收通过后，自动放出后面 7 个域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各域都从先导的提交开始改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09</a:t>
            </a:r>
          </a:p>
        </p:txBody>
      </p:sp>
      <p:pic>
        <p:nvPicPr>
          <p:cNvPr id="25" name="Picture 24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每一块改造都变成一张工单，和运维工单走同一条自动流程</a:t>
            </a:r>
          </a:p>
        </p:txBody>
      </p:sp>
      <p:pic>
        <p:nvPicPr>
          <p:cNvPr id="3" name="Picture 2" descr="r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7498079" cy="24299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97679" y="2664097"/>
            <a:ext cx="297542" cy="1586895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446451" y="4250992"/>
            <a:ext cx="0" cy="458168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446451" y="4709160"/>
            <a:ext cx="3892876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412480" y="4553712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标明是计划里的第几块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先导一张，后面 7 个业务域各一张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3756" y="2664097"/>
            <a:ext cx="371928" cy="1586895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355684" y="3457544"/>
            <a:ext cx="1983643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412480" y="3302096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每张单停在哪一步，一列看完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已关闭、处理中、待验证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2578"/>
            <a:ext cx="3848220" cy="12397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4396860" y="2304566"/>
            <a:ext cx="3942467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8412480" y="2149118"/>
            <a:ext cx="3227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改造工单不进运维看板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分析、改代码、构建测试、等验收和运维一样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10</a:t>
            </a:r>
          </a:p>
        </p:txBody>
      </p:sp>
      <p:pic>
        <p:nvPicPr>
          <p:cNvPr id="26" name="Picture 2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每张改造工单都写清改了什么、依据在哪，验收通过这一块才算完成</a:t>
            </a:r>
          </a:p>
        </p:txBody>
      </p:sp>
      <p:pic>
        <p:nvPicPr>
          <p:cNvPr id="3" name="Picture 2" descr="r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7315200" cy="3217333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67954" y="1795417"/>
            <a:ext cx="6531428" cy="377371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399382" y="1984102"/>
            <a:ext cx="802786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275320" y="1828654"/>
            <a:ext cx="33649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智能体做到改完代码，停在人工验收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7954" y="2443721"/>
            <a:ext cx="5297714" cy="319314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165668" y="2603379"/>
            <a:ext cx="2036500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8275320" y="2447931"/>
            <a:ext cx="33649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根因分开标出【核实】和【推断】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附上原 .NET 代码的位置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7954" y="3208140"/>
            <a:ext cx="5297714" cy="241904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165668" y="3329093"/>
            <a:ext cx="2036500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8275320" y="3173645"/>
            <a:ext cx="33649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写明改了几个文件、构建测试结果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验收不通过须写原因，智能体照着重改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5001" y="4470883"/>
            <a:ext cx="1528838" cy="483809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863840" y="4712788"/>
            <a:ext cx="338328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8275320" y="4557340"/>
            <a:ext cx="3364991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改动提交在单独分支上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合入主干由人完成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11</a:t>
            </a:r>
          </a:p>
        </p:txBody>
      </p:sp>
      <p:pic>
        <p:nvPicPr>
          <p:cNvPr id="28" name="Picture 2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把一个 .NET 项目改写成 Java，人在开头定规矩，在每一批结束时验收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74519"/>
            <a:ext cx="1325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874519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谁来做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03320" y="1874519"/>
            <a:ext cx="7799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这个项目上发生了什么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58568"/>
            <a:ext cx="11091672" cy="0"/>
          </a:xfrm>
          <a:prstGeom prst="line">
            <a:avLst/>
          </a:prstGeom>
          <a:ln w="15875">
            <a:solidFill>
              <a:srgbClr val="141414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548640" y="2276856"/>
            <a:ext cx="11091672" cy="626364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58568"/>
            <a:ext cx="132588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定目标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258568"/>
            <a:ext cx="114300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项目负责人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258568"/>
            <a:ext cx="7799831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把开源项目 RealWorld 的 .NET 后端改写成 Java，数据库换成达梦；对外接口一个都不能变。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921508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85800" y="2921508"/>
            <a:ext cx="132588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拆分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921508"/>
            <a:ext cx="114300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921508"/>
            <a:ext cx="7799831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分成一个公共骨架和 7 个业务域，按和其他域共用表的多少排先后。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584448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85800" y="3584448"/>
            <a:ext cx="132588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改骨架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584448"/>
            <a:ext cx="114300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584448"/>
            <a:ext cx="7799831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工程、配置、建表脚本、登录鉴权一次做好，用了约 20 分钟。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247388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548640" y="4265675"/>
            <a:ext cx="11091672" cy="626364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47388"/>
            <a:ext cx="132588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验收骨架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247388"/>
            <a:ext cx="114300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验收人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4247388"/>
            <a:ext cx="7799831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骨架通过后，7 个业务域一次全部放出。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910327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85800" y="4910327"/>
            <a:ext cx="132588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改业务域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910327"/>
            <a:ext cx="114300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4910327"/>
            <a:ext cx="7799831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7 个域并行改，每个用了 24 到 41 分钟。6 个编译通过；要求的 19 个接口做出了 18 个。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573267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548640" y="5591555"/>
            <a:ext cx="11091672" cy="626364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573267"/>
            <a:ext cx="132588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逐域验收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573267"/>
            <a:ext cx="1143000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验收人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573267"/>
            <a:ext cx="7799831" cy="6629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2B2B2B"/>
                </a:solidFill>
                <a:latin typeface="Helvetica Neue"/>
                <a:ea typeface="PingFang SC"/>
              </a:rPr>
              <a:t>6 个域在等验收；编译没过的那个域正在重改。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236207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102352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运维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2297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看板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35624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答复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4827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修复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6092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292608"/>
            <a:ext cx="42062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重构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22792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1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计划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2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分批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48088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3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60736" y="292608"/>
            <a:ext cx="566928" cy="237744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B6B6B"/>
                </a:solidFill>
                <a:latin typeface="Helvetica Neue"/>
                <a:ea typeface="PingFang SC"/>
              </a:rPr>
              <a:t>4 </a:t>
            </a: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详情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073384" y="292608"/>
            <a:ext cx="566928" cy="237744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5 </a:t>
            </a:r>
            <a:r>
              <a:rPr sz="900" b="0">
                <a:solidFill>
                  <a:srgbClr val="FFFFFF"/>
                </a:solidFill>
                <a:latin typeface="Helvetica Neue"/>
                <a:ea typeface="PingFang SC"/>
              </a:rPr>
              <a:t>经过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12</a:t>
            </a:r>
          </a:p>
        </p:txBody>
      </p:sp>
      <p:pic>
        <p:nvPicPr>
          <p:cNvPr id="46" name="Picture 4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案例一：用 JeecgBoot 官方仓库里 40 个真实 issue 测缺陷修复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828800"/>
            <a:ext cx="11091672" cy="0"/>
          </a:xfrm>
          <a:prstGeom prst="line">
            <a:avLst/>
          </a:prstGeom>
          <a:ln w="15875">
            <a:solidFill>
              <a:srgbClr val="14141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1828800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源仓库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JeecgBoot 官方仓库，开源的 Java 低代码平台</a:t>
            </a:r>
            <a:r>
              <a:rPr sz="1100" b="0">
                <a:solidFill>
                  <a:srgbClr val="1F4AA8"/>
                </a:solidFill>
                <a:latin typeface="Helvetica Neue"/>
                <a:ea typeface="PingFang SC"/>
              </a:rPr>
              <a:t>   github.com/jeecgboot/JeecgBoot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432304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2432304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工单来源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32304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官方修复提交里引用的 GitHub issue，标题和正文照搬原文，每张都对得上链接</a:t>
            </a:r>
            <a:r>
              <a:rPr sz="1100" b="0">
                <a:solidFill>
                  <a:srgbClr val="1F4AA8"/>
                </a:solidFill>
                <a:latin typeface="Helvetica Neue"/>
                <a:ea typeface="PingFang SC"/>
              </a:rPr>
              <a:t>   JB-1 ↔ issues/9288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035808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3035808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挑选规则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35808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修复改动的业务文件不超过 8 个，按修复日期取最近的：后端 20 张、前端 20 张</a:t>
            </a:r>
            <a:r>
              <a:rPr sz="1100" b="0">
                <a:solidFill>
                  <a:srgbClr val="1F4AA8"/>
                </a:solidFill>
                <a:latin typeface="Helvetica Neue"/>
                <a:ea typeface="PingFang SC"/>
              </a:rPr>
              <a:t>   2025-02 至 2026-09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639312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363931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代码版本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639312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每张单都从官方修复的前一个提交开始改，官方修复不在智能体的代码历史里</a:t>
            </a:r>
            <a:r>
              <a:rPr sz="1100" b="0">
                <a:solidFill>
                  <a:srgbClr val="1F4AA8"/>
                </a:solidFill>
                <a:latin typeface="Helvetica Neue"/>
                <a:ea typeface="PingFang SC"/>
              </a:rPr>
              <a:t>   基线 84f46c2 · v3.7.2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242816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4242816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42816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OpenAI Codex。每张单实际运行时间中位数约 8 分钟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846320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4846320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评审方法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把智能体的改动和官方修复的代码逐张对照，分成五档。只看代码，没有编译运行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449824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5724144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任何人都可以按 issue 号回到 GitHub，看到原始问题和官方是怎么修的。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13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案例一结果：40 张真实缺陷单里，34 张和官方修复方向一致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011680"/>
            <a:ext cx="9391345" cy="91440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274320" rIns="54864" tIns="27432" bIns="27432" wrap="square"/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Helvetica Neue"/>
                <a:ea typeface="PingFang SC"/>
              </a:rPr>
              <a:t>34</a:t>
            </a:r>
            <a:r>
              <a:rPr sz="1400" b="0">
                <a:solidFill>
                  <a:srgbClr val="FFFFFF"/>
                </a:solidFill>
                <a:latin typeface="Helvetica Neue"/>
                <a:ea typeface="PingFang SC"/>
              </a:rPr>
              <a:t>  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942792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和官方修复方向一致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9976561" y="2011680"/>
            <a:ext cx="1627174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Helvetica Neue"/>
                <a:ea typeface="PingFang SC"/>
              </a:rPr>
              <a:t>6</a:t>
            </a:r>
            <a:r>
              <a:rPr sz="1400" b="0">
                <a:solidFill>
                  <a:srgbClr val="FFFFFF"/>
                </a:solidFill>
                <a:latin typeface="Helvetica Neue"/>
                <a:ea typeface="PingFang SC"/>
              </a:rPr>
              <a:t>  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76561" y="3017520"/>
            <a:ext cx="16637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方向不对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23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问题写得具体的单，基本能改对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Helvetica Neue"/>
                <a:ea typeface="PingFang SC"/>
              </a:rPr>
              <a:t>JB-21 指到了具体行，JB-33 给出了要加的方法，JB-40 说明了用错的列，三张和官方修复几乎一致。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4023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只有截图或报告人猜了原因的单，容易跑偏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448056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Helvetica Neue"/>
                <a:ea typeface="PingFang SC"/>
              </a:rPr>
              <a:t>JB-19 报告人猜是大事务，智能体照着做了分批删除；官方的原因是请求参数个数超出上限。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40233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每张单几分钟出结果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448056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Helvetica Neue"/>
                <a:ea typeface="PingFang SC"/>
              </a:rPr>
              <a:t>智能体从读单到改完代码，每张单用时中位数约 8 分钟。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492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逐张结果  </a:t>
            </a: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JB 号对应开源仓库 </a:t>
            </a: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github.com/jeecgboot/JeecgBoot</a:t>
            </a: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 上的原始 issue，可以逐张回查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5931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03223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80515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57807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35099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12390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682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66974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44266" y="5687568"/>
            <a:ext cx="249859" cy="3657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1558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8849" y="5687568"/>
            <a:ext cx="249859" cy="3657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76141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53433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0725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8017" y="5687568"/>
            <a:ext cx="249859" cy="3657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5308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62600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9892" y="5687568"/>
            <a:ext cx="249859" cy="3657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17184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4476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1767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9059" y="5687568"/>
            <a:ext cx="249859" cy="3657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26351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3643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80935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58226" y="5687568"/>
            <a:ext cx="249859" cy="3657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35518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12810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0102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7394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685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21977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99269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76561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53853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531144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808436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085728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39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363020" y="5687568"/>
            <a:ext cx="249859" cy="3657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0" rIns="0" tIns="27432" bIns="27432" wrap="non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14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案例二：把开源项目 RealWorld 的 .NET 后端改写成 Java + 达梦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1828800"/>
            <a:ext cx="11091672" cy="0"/>
          </a:xfrm>
          <a:prstGeom prst="line">
            <a:avLst/>
          </a:prstGeom>
          <a:ln w="15875">
            <a:solidFill>
              <a:srgbClr val="141414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548640" y="1828800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源项目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官方 ASP.NET Core 版，约 7 千行</a:t>
            </a:r>
            <a:r>
              <a:rPr sz="1100" b="0">
                <a:solidFill>
                  <a:srgbClr val="1F4AA8"/>
                </a:solidFill>
                <a:latin typeface="Helvetica Neue"/>
                <a:ea typeface="PingFang SC"/>
              </a:rPr>
              <a:t>   github.com/gothinkster/aspnetcore-realworld-example-app · a51468c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432304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2432304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对照答案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432304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官方 Spring Boot 版，放在项目外，改代码的智能体看不到</a:t>
            </a:r>
            <a:r>
              <a:rPr sz="1100" b="0">
                <a:solidFill>
                  <a:srgbClr val="1F4AA8"/>
                </a:solidFill>
                <a:latin typeface="Helvetica Neue"/>
                <a:ea typeface="PingFang SC"/>
              </a:rPr>
              <a:t>   github.com/gothinkster/spring-boot-realworld-example-app · ee17e31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3035808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3035808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验收标准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35808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官方 OpenAPI 规范里的 19 个接口：路径、方法、状态码、JSON 字段都要和原来一致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3639312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363931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目标技术栈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639312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JDK 17、Spring Boot 3、MyBatis、达梦 DM8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242816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4242816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怎么跑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42816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一个脚本从头跑到尾：全量分析、建改造计划、改骨架、验收、7 个业务域并行改、合并、出报告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4846320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4846320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产物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46320"/>
            <a:ext cx="9354312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1414"/>
                </a:solidFill>
                <a:latin typeface="Helvetica Neue"/>
                <a:ea typeface="PingFang SC"/>
              </a:rPr>
              <a:t>每个部分一个分支，合并后的 Java 代码在一个分支上，可以逐文件和官方 Java 版对照</a:t>
            </a:r>
            <a:r>
              <a:rPr sz="1100" b="0">
                <a:solidFill>
                  <a:srgbClr val="1F4AA8"/>
                </a:solidFill>
                <a:latin typeface="Helvetica Neue"/>
                <a:ea typeface="PingFang SC"/>
              </a:rPr>
              <a:t>   tmh-java-all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449824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5724144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选它的原因：同一套接口有官方的 .NET 和 Java 两个实现，改出来的结果有现成的答案可以对。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15</a:t>
            </a:r>
          </a:p>
        </p:txBody>
      </p:sp>
      <p:pic>
        <p:nvPicPr>
          <p:cNvPr id="24" name="Picture 2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案例二结果：8 个部分里 7 个编译通过，19 个接口做出了 18 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每个部分：智能体用时与编译结果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2295144"/>
            <a:ext cx="867257" cy="16459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55009" y="21945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19 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19456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4AA8"/>
                </a:solidFill>
                <a:latin typeface="Helvetica Neue"/>
                <a:ea typeface="PingFang SC"/>
              </a:rPr>
              <a:t>编译通过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2432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文章标签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724912"/>
            <a:ext cx="1336649" cy="1645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24401" y="26243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30 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24328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D9622B"/>
                </a:solidFill>
                <a:latin typeface="Helvetica Neue"/>
                <a:ea typeface="PingFang SC"/>
              </a:rPr>
              <a:t>未通过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54096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用户资料查询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154679"/>
            <a:ext cx="1814982" cy="16459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2734" y="3054096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41 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5409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4AA8"/>
                </a:solidFill>
                <a:latin typeface="Helvetica Neue"/>
                <a:ea typeface="PingFang SC"/>
              </a:rPr>
              <a:t>编译通过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83863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文章收藏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3584447"/>
            <a:ext cx="1068425" cy="16459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6177" y="3483863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24 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483863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4AA8"/>
                </a:solidFill>
                <a:latin typeface="Helvetica Neue"/>
                <a:ea typeface="PingFang SC"/>
              </a:rPr>
              <a:t>编译通过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1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用户关注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4014215"/>
            <a:ext cx="1336649" cy="16459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24401" y="3913631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30 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13631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4AA8"/>
                </a:solidFill>
                <a:latin typeface="Helvetica Neue"/>
                <a:ea typeface="PingFang SC"/>
              </a:rPr>
              <a:t>编译通过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399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文章评论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4600" y="4443983"/>
            <a:ext cx="1676400" cy="16459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4152" y="4343399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38 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343399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4AA8"/>
                </a:solidFill>
                <a:latin typeface="Helvetica Neue"/>
                <a:ea typeface="PingFang SC"/>
              </a:rPr>
              <a:t>编译通过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73167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用户账户与身份认证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14600" y="4873751"/>
            <a:ext cx="1055014" cy="16459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2766" y="4773167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24 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773167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4AA8"/>
                </a:solidFill>
                <a:latin typeface="Helvetica Neue"/>
                <a:ea typeface="PingFang SC"/>
              </a:rPr>
              <a:t>编译通过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202935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41414"/>
                </a:solidFill>
                <a:latin typeface="Helvetica Neue"/>
                <a:ea typeface="PingFang SC"/>
              </a:rPr>
              <a:t>文章管理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14600" y="5303519"/>
            <a:ext cx="1171244" cy="164592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58996" y="5202935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26 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202935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1F4AA8"/>
                </a:solidFill>
                <a:latin typeface="Helvetica Neue"/>
                <a:ea typeface="PingFang SC"/>
              </a:rPr>
              <a:t>编译通过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  <a:latin typeface="Helvetica Neue"/>
                <a:ea typeface="PingFang SC"/>
              </a:rPr>
              <a:t>官方规范里的 19 个接口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194560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45352" y="219456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POST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/users/login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91856" y="2194560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219456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POST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/users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11512" y="2194560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84664" y="219456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GET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/user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715768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45352" y="2715768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PUT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91856" y="2715768"/>
            <a:ext cx="1764792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D9622B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65008" y="2715768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D9622B"/>
                </a:solidFill>
                <a:latin typeface="Helvetica Neue"/>
                <a:ea typeface="PingFang SC"/>
              </a:rPr>
              <a:t>GET </a:t>
            </a:r>
            <a:r>
              <a:rPr sz="850" b="0">
                <a:solidFill>
                  <a:srgbClr val="D9622B"/>
                </a:solidFill>
                <a:latin typeface="Helvetica Neue"/>
                <a:ea typeface="PingFang SC"/>
              </a:rPr>
              <a:t>/profiles/{u}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11512" y="2715768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84664" y="2715768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POST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/profiles/{u}/follow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3236976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45352" y="3236976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DELETE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/profiles/{u}/follow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91856" y="3236976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65008" y="3236976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GET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/articles/feed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11512" y="3236976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884664" y="3236976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GET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3758184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45352" y="3758184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POST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91856" y="3758184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65008" y="3758184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GET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11512" y="3758184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884664" y="3758184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PUT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72200" y="4279392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45352" y="4279392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DELETE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91856" y="4279392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65008" y="4279392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GET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/articles/{slug}/comments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811512" y="4279392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84664" y="4279392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POST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/articles/{slug}/comments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72200" y="4800600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45352" y="480060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DELETE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/articles/{slug}/comments/{id}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91856" y="4800600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65008" y="480060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POST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/articles/{slug}/favorite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11512" y="4800600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884664" y="4800600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DELETE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/articles/{slug}/favorite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172200" y="5321808"/>
            <a:ext cx="1764792" cy="45720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45352" y="5321808"/>
            <a:ext cx="1673351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GET </a:t>
            </a: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/tags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72200" y="5888736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D9622B"/>
                </a:solidFill>
                <a:latin typeface="Helvetica Neue"/>
                <a:ea typeface="PingFang SC"/>
              </a:rPr>
              <a:t>虚线框：漏掉的“查询用户资料”接口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16</a:t>
            </a:r>
          </a:p>
        </p:txBody>
      </p:sp>
      <p:pic>
        <p:nvPicPr>
          <p:cNvPr id="77" name="Picture 7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Helvetica Neue"/>
                <a:ea typeface="PingFang SC"/>
              </a:rPr>
              <a:t>Webuddy 的 RSI 自进化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FB0CC"/>
                </a:solidFill>
                <a:latin typeface="Helvetica Neue"/>
                <a:ea typeface="PingFang SC"/>
              </a:rPr>
              <a:t>RSI：Recursive Self-Improvement，递归式自我改进。每交付一张单，飞轮就转一圈，下一圈转得更顺。</a:t>
            </a:r>
          </a:p>
        </p:txBody>
      </p:sp>
      <p:sp>
        <p:nvSpPr>
          <p:cNvPr id="4" name="Freeform 3"/>
          <p:cNvSpPr/>
          <p:nvPr/>
        </p:nvSpPr>
        <p:spPr>
          <a:xfrm>
            <a:off x="2332721" y="2350233"/>
            <a:ext cx="3382279" cy="3382778"/>
          </a:xfrm>
          <a:custGeom>
            <a:avLst/>
            <a:gdLst/>
            <a:ahLst/>
            <a:cxnLst/>
            <a:rect l="l" t="t" r="r" b="b"/>
            <a:pathLst>
              <a:path w="3382279" h="3382778">
                <a:moveTo>
                  <a:pt x="3382279" y="1691415"/>
                </a:moveTo>
                <a:lnTo>
                  <a:pt x="3378067" y="1810708"/>
                </a:lnTo>
                <a:lnTo>
                  <a:pt x="3365453" y="1929407"/>
                </a:lnTo>
                <a:lnTo>
                  <a:pt x="3344501" y="2046922"/>
                </a:lnTo>
                <a:lnTo>
                  <a:pt x="3315313" y="2162666"/>
                </a:lnTo>
                <a:lnTo>
                  <a:pt x="3278036" y="2276064"/>
                </a:lnTo>
                <a:lnTo>
                  <a:pt x="3232855" y="2386551"/>
                </a:lnTo>
                <a:lnTo>
                  <a:pt x="3179995" y="2493576"/>
                </a:lnTo>
                <a:lnTo>
                  <a:pt x="3119719" y="2596608"/>
                </a:lnTo>
                <a:lnTo>
                  <a:pt x="3052327" y="2695132"/>
                </a:lnTo>
                <a:lnTo>
                  <a:pt x="2978156" y="2788659"/>
                </a:lnTo>
                <a:lnTo>
                  <a:pt x="2897573" y="2876722"/>
                </a:lnTo>
                <a:lnTo>
                  <a:pt x="2810982" y="2958883"/>
                </a:lnTo>
                <a:lnTo>
                  <a:pt x="2718811" y="3034734"/>
                </a:lnTo>
                <a:lnTo>
                  <a:pt x="2621521" y="3103896"/>
                </a:lnTo>
                <a:lnTo>
                  <a:pt x="2519597" y="3166024"/>
                </a:lnTo>
                <a:lnTo>
                  <a:pt x="2413544" y="3220811"/>
                </a:lnTo>
                <a:lnTo>
                  <a:pt x="2303892" y="3267982"/>
                </a:lnTo>
                <a:lnTo>
                  <a:pt x="2191187" y="3307303"/>
                </a:lnTo>
                <a:lnTo>
                  <a:pt x="2075989" y="3338579"/>
                </a:lnTo>
                <a:lnTo>
                  <a:pt x="1958873" y="3361653"/>
                </a:lnTo>
                <a:lnTo>
                  <a:pt x="1840421" y="3376410"/>
                </a:lnTo>
                <a:lnTo>
                  <a:pt x="1721223" y="3382778"/>
                </a:lnTo>
                <a:lnTo>
                  <a:pt x="1601873" y="3380724"/>
                </a:lnTo>
                <a:lnTo>
                  <a:pt x="1482965" y="3370259"/>
                </a:lnTo>
                <a:lnTo>
                  <a:pt x="1365091" y="3351434"/>
                </a:lnTo>
                <a:lnTo>
                  <a:pt x="1248838" y="3324344"/>
                </a:lnTo>
                <a:lnTo>
                  <a:pt x="1134784" y="3289123"/>
                </a:lnTo>
                <a:lnTo>
                  <a:pt x="1023499" y="3245947"/>
                </a:lnTo>
                <a:lnTo>
                  <a:pt x="915535" y="3195030"/>
                </a:lnTo>
                <a:lnTo>
                  <a:pt x="811431" y="3136627"/>
                </a:lnTo>
                <a:lnTo>
                  <a:pt x="711704" y="3071028"/>
                </a:lnTo>
                <a:lnTo>
                  <a:pt x="616852" y="2998559"/>
                </a:lnTo>
                <a:lnTo>
                  <a:pt x="527346" y="2919582"/>
                </a:lnTo>
                <a:lnTo>
                  <a:pt x="443632" y="2834490"/>
                </a:lnTo>
                <a:lnTo>
                  <a:pt x="366128" y="2743706"/>
                </a:lnTo>
                <a:lnTo>
                  <a:pt x="295218" y="2647683"/>
                </a:lnTo>
                <a:lnTo>
                  <a:pt x="231257" y="2546898"/>
                </a:lnTo>
                <a:lnTo>
                  <a:pt x="174562" y="2441853"/>
                </a:lnTo>
                <a:lnTo>
                  <a:pt x="125416" y="2333072"/>
                </a:lnTo>
                <a:lnTo>
                  <a:pt x="84063" y="2221096"/>
                </a:lnTo>
                <a:lnTo>
                  <a:pt x="50710" y="2106483"/>
                </a:lnTo>
                <a:lnTo>
                  <a:pt x="25523" y="1989803"/>
                </a:lnTo>
                <a:lnTo>
                  <a:pt x="8626" y="1871637"/>
                </a:lnTo>
                <a:lnTo>
                  <a:pt x="104" y="1752574"/>
                </a:lnTo>
                <a:lnTo>
                  <a:pt x="0" y="1633206"/>
                </a:lnTo>
                <a:lnTo>
                  <a:pt x="8314" y="1514128"/>
                </a:lnTo>
                <a:lnTo>
                  <a:pt x="25005" y="1395933"/>
                </a:lnTo>
                <a:lnTo>
                  <a:pt x="49988" y="1279209"/>
                </a:lnTo>
                <a:lnTo>
                  <a:pt x="83141" y="1164538"/>
                </a:lnTo>
                <a:lnTo>
                  <a:pt x="124299" y="1052490"/>
                </a:lnTo>
                <a:lnTo>
                  <a:pt x="173255" y="943623"/>
                </a:lnTo>
                <a:lnTo>
                  <a:pt x="229766" y="838480"/>
                </a:lnTo>
                <a:lnTo>
                  <a:pt x="293552" y="737583"/>
                </a:lnTo>
                <a:lnTo>
                  <a:pt x="364293" y="641436"/>
                </a:lnTo>
                <a:lnTo>
                  <a:pt x="441639" y="550517"/>
                </a:lnTo>
                <a:lnTo>
                  <a:pt x="525204" y="465279"/>
                </a:lnTo>
                <a:lnTo>
                  <a:pt x="614572" y="386146"/>
                </a:lnTo>
                <a:lnTo>
                  <a:pt x="709298" y="313512"/>
                </a:lnTo>
                <a:lnTo>
                  <a:pt x="808910" y="247739"/>
                </a:lnTo>
                <a:lnTo>
                  <a:pt x="912912" y="189154"/>
                </a:lnTo>
                <a:lnTo>
                  <a:pt x="1020787" y="138049"/>
                </a:lnTo>
                <a:lnTo>
                  <a:pt x="1131997" y="94679"/>
                </a:lnTo>
                <a:lnTo>
                  <a:pt x="1245988" y="59259"/>
                </a:lnTo>
                <a:lnTo>
                  <a:pt x="1362194" y="31966"/>
                </a:lnTo>
                <a:lnTo>
                  <a:pt x="1480035" y="12935"/>
                </a:lnTo>
                <a:lnTo>
                  <a:pt x="1598925" y="2263"/>
                </a:lnTo>
                <a:lnTo>
                  <a:pt x="1718271" y="0"/>
                </a:lnTo>
                <a:lnTo>
                  <a:pt x="1837480" y="6160"/>
                </a:lnTo>
                <a:lnTo>
                  <a:pt x="1955957" y="20711"/>
                </a:lnTo>
                <a:lnTo>
                  <a:pt x="2073114" y="43580"/>
                </a:lnTo>
                <a:lnTo>
                  <a:pt x="2188366" y="74654"/>
                </a:lnTo>
                <a:lnTo>
                  <a:pt x="2301140" y="113779"/>
                </a:lnTo>
                <a:lnTo>
                  <a:pt x="2410874" y="160759"/>
                </a:lnTo>
                <a:lnTo>
                  <a:pt x="2517022" y="215360"/>
                </a:lnTo>
                <a:lnTo>
                  <a:pt x="2619055" y="277311"/>
                </a:lnTo>
                <a:lnTo>
                  <a:pt x="2716465" y="346303"/>
                </a:lnTo>
                <a:lnTo>
                  <a:pt x="2808768" y="421992"/>
                </a:lnTo>
                <a:lnTo>
                  <a:pt x="2895503" y="504002"/>
                </a:lnTo>
                <a:lnTo>
                  <a:pt x="2976239" y="591925"/>
                </a:lnTo>
                <a:lnTo>
                  <a:pt x="3050574" y="685322"/>
                </a:lnTo>
                <a:lnTo>
                  <a:pt x="3118137" y="783728"/>
                </a:lnTo>
                <a:lnTo>
                  <a:pt x="3178593" y="886654"/>
                </a:lnTo>
                <a:lnTo>
                  <a:pt x="3231639" y="993588"/>
                </a:lnTo>
                <a:lnTo>
                  <a:pt x="3277013" y="1103995"/>
                </a:lnTo>
                <a:lnTo>
                  <a:pt x="3314488" y="1217328"/>
                </a:lnTo>
                <a:lnTo>
                  <a:pt x="3343878" y="1333021"/>
                </a:lnTo>
                <a:lnTo>
                  <a:pt x="3365036" y="1450499"/>
                </a:lnTo>
                <a:lnTo>
                  <a:pt x="3377856" y="1569176"/>
                </a:lnTo>
                <a:lnTo>
                  <a:pt x="3382276" y="1688462"/>
                </a:lnTo>
              </a:path>
            </a:pathLst>
          </a:custGeom>
          <a:noFill/>
          <a:ln w="381000">
            <a:solidFill>
              <a:srgbClr val="17294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425164" y="2350008"/>
            <a:ext cx="1196391" cy="109297"/>
          </a:xfrm>
          <a:custGeom>
            <a:avLst/>
            <a:gdLst/>
            <a:ahLst/>
            <a:cxnLst/>
            <a:rect l="l" t="t" r="r" b="b"/>
            <a:pathLst>
              <a:path w="1196391" h="109297">
                <a:moveTo>
                  <a:pt x="0" y="109297"/>
                </a:moveTo>
                <a:lnTo>
                  <a:pt x="115846" y="70225"/>
                </a:lnTo>
                <a:lnTo>
                  <a:pt x="234212" y="39622"/>
                </a:lnTo>
                <a:lnTo>
                  <a:pt x="354478" y="17648"/>
                </a:lnTo>
                <a:lnTo>
                  <a:pt x="476018" y="4417"/>
                </a:lnTo>
                <a:lnTo>
                  <a:pt x="598196" y="0"/>
                </a:lnTo>
                <a:lnTo>
                  <a:pt x="720373" y="4417"/>
                </a:lnTo>
                <a:lnTo>
                  <a:pt x="841913" y="17648"/>
                </a:lnTo>
                <a:lnTo>
                  <a:pt x="962179" y="39622"/>
                </a:lnTo>
                <a:lnTo>
                  <a:pt x="1080545" y="70225"/>
                </a:lnTo>
                <a:lnTo>
                  <a:pt x="1196391" y="109297"/>
                </a:lnTo>
              </a:path>
            </a:pathLst>
          </a:custGeom>
          <a:noFill/>
          <a:ln w="34925">
            <a:solidFill>
              <a:srgbClr val="8FB3F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094611" y="2732424"/>
            <a:ext cx="598195" cy="1036104"/>
          </a:xfrm>
          <a:custGeom>
            <a:avLst/>
            <a:gdLst/>
            <a:ahLst/>
            <a:cxnLst/>
            <a:rect l="l" t="t" r="r" b="b"/>
            <a:pathLst>
              <a:path w="598195" h="1036104">
                <a:moveTo>
                  <a:pt x="0" y="0"/>
                </a:moveTo>
                <a:lnTo>
                  <a:pt x="91760" y="80790"/>
                </a:lnTo>
                <a:lnTo>
                  <a:pt x="177446" y="167996"/>
                </a:lnTo>
                <a:lnTo>
                  <a:pt x="256609" y="261162"/>
                </a:lnTo>
                <a:lnTo>
                  <a:pt x="328837" y="359803"/>
                </a:lnTo>
                <a:lnTo>
                  <a:pt x="393752" y="463404"/>
                </a:lnTo>
                <a:lnTo>
                  <a:pt x="451015" y="571421"/>
                </a:lnTo>
                <a:lnTo>
                  <a:pt x="500326" y="683293"/>
                </a:lnTo>
                <a:lnTo>
                  <a:pt x="541429" y="798434"/>
                </a:lnTo>
                <a:lnTo>
                  <a:pt x="574109" y="916243"/>
                </a:lnTo>
                <a:lnTo>
                  <a:pt x="598195" y="1036104"/>
                </a:lnTo>
              </a:path>
            </a:pathLst>
          </a:custGeom>
          <a:noFill/>
          <a:ln w="34925">
            <a:solidFill>
              <a:srgbClr val="8FB3F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094611" y="4314767"/>
            <a:ext cx="598195" cy="1036104"/>
          </a:xfrm>
          <a:custGeom>
            <a:avLst/>
            <a:gdLst/>
            <a:ahLst/>
            <a:cxnLst/>
            <a:rect l="l" t="t" r="r" b="b"/>
            <a:pathLst>
              <a:path w="598195" h="1036104">
                <a:moveTo>
                  <a:pt x="598195" y="0"/>
                </a:moveTo>
                <a:lnTo>
                  <a:pt x="574109" y="119861"/>
                </a:lnTo>
                <a:lnTo>
                  <a:pt x="541429" y="237670"/>
                </a:lnTo>
                <a:lnTo>
                  <a:pt x="500326" y="352811"/>
                </a:lnTo>
                <a:lnTo>
                  <a:pt x="451015" y="464683"/>
                </a:lnTo>
                <a:lnTo>
                  <a:pt x="393752" y="572701"/>
                </a:lnTo>
                <a:lnTo>
                  <a:pt x="328837" y="676301"/>
                </a:lnTo>
                <a:lnTo>
                  <a:pt x="256609" y="774942"/>
                </a:lnTo>
                <a:lnTo>
                  <a:pt x="177446" y="868108"/>
                </a:lnTo>
                <a:lnTo>
                  <a:pt x="91760" y="955314"/>
                </a:lnTo>
                <a:lnTo>
                  <a:pt x="0" y="1036104"/>
                </a:lnTo>
              </a:path>
            </a:pathLst>
          </a:custGeom>
          <a:noFill/>
          <a:ln w="34925">
            <a:solidFill>
              <a:srgbClr val="8FB3F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3425164" y="5623990"/>
            <a:ext cx="1196391" cy="109298"/>
          </a:xfrm>
          <a:custGeom>
            <a:avLst/>
            <a:gdLst/>
            <a:ahLst/>
            <a:cxnLst/>
            <a:rect l="l" t="t" r="r" b="b"/>
            <a:pathLst>
              <a:path w="1196391" h="109298">
                <a:moveTo>
                  <a:pt x="1196391" y="0"/>
                </a:moveTo>
                <a:lnTo>
                  <a:pt x="1080545" y="39072"/>
                </a:lnTo>
                <a:lnTo>
                  <a:pt x="962179" y="69675"/>
                </a:lnTo>
                <a:lnTo>
                  <a:pt x="841913" y="91649"/>
                </a:lnTo>
                <a:lnTo>
                  <a:pt x="720373" y="104880"/>
                </a:lnTo>
                <a:lnTo>
                  <a:pt x="598196" y="109298"/>
                </a:lnTo>
                <a:lnTo>
                  <a:pt x="476018" y="104880"/>
                </a:lnTo>
                <a:lnTo>
                  <a:pt x="354478" y="91649"/>
                </a:lnTo>
                <a:lnTo>
                  <a:pt x="234212" y="69675"/>
                </a:lnTo>
                <a:lnTo>
                  <a:pt x="115846" y="39072"/>
                </a:lnTo>
                <a:lnTo>
                  <a:pt x="0" y="0"/>
                </a:lnTo>
              </a:path>
            </a:pathLst>
          </a:custGeom>
          <a:noFill/>
          <a:ln w="34925">
            <a:solidFill>
              <a:srgbClr val="8FB3F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2353913" y="4314767"/>
            <a:ext cx="598195" cy="1036104"/>
          </a:xfrm>
          <a:custGeom>
            <a:avLst/>
            <a:gdLst/>
            <a:ahLst/>
            <a:cxnLst/>
            <a:rect l="l" t="t" r="r" b="b"/>
            <a:pathLst>
              <a:path w="598195" h="1036104">
                <a:moveTo>
                  <a:pt x="598195" y="1036104"/>
                </a:moveTo>
                <a:lnTo>
                  <a:pt x="506435" y="955314"/>
                </a:lnTo>
                <a:lnTo>
                  <a:pt x="420749" y="868108"/>
                </a:lnTo>
                <a:lnTo>
                  <a:pt x="341586" y="774942"/>
                </a:lnTo>
                <a:lnTo>
                  <a:pt x="269358" y="676301"/>
                </a:lnTo>
                <a:lnTo>
                  <a:pt x="204443" y="572701"/>
                </a:lnTo>
                <a:lnTo>
                  <a:pt x="147180" y="464683"/>
                </a:lnTo>
                <a:lnTo>
                  <a:pt x="97869" y="352811"/>
                </a:lnTo>
                <a:lnTo>
                  <a:pt x="56766" y="237670"/>
                </a:lnTo>
                <a:lnTo>
                  <a:pt x="24086" y="119861"/>
                </a:lnTo>
                <a:lnTo>
                  <a:pt x="0" y="0"/>
                </a:lnTo>
              </a:path>
            </a:pathLst>
          </a:custGeom>
          <a:noFill/>
          <a:ln w="34925">
            <a:solidFill>
              <a:srgbClr val="8FB3F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2353913" y="2732424"/>
            <a:ext cx="598195" cy="1036104"/>
          </a:xfrm>
          <a:custGeom>
            <a:avLst/>
            <a:gdLst/>
            <a:ahLst/>
            <a:cxnLst/>
            <a:rect l="l" t="t" r="r" b="b"/>
            <a:pathLst>
              <a:path w="598195" h="1036104">
                <a:moveTo>
                  <a:pt x="0" y="1036104"/>
                </a:moveTo>
                <a:lnTo>
                  <a:pt x="24086" y="916243"/>
                </a:lnTo>
                <a:lnTo>
                  <a:pt x="56766" y="798434"/>
                </a:lnTo>
                <a:lnTo>
                  <a:pt x="97869" y="683293"/>
                </a:lnTo>
                <a:lnTo>
                  <a:pt x="147180" y="571421"/>
                </a:lnTo>
                <a:lnTo>
                  <a:pt x="204443" y="463403"/>
                </a:lnTo>
                <a:lnTo>
                  <a:pt x="269358" y="359803"/>
                </a:lnTo>
                <a:lnTo>
                  <a:pt x="341586" y="261162"/>
                </a:lnTo>
                <a:lnTo>
                  <a:pt x="420749" y="167996"/>
                </a:lnTo>
                <a:lnTo>
                  <a:pt x="506435" y="80790"/>
                </a:lnTo>
                <a:lnTo>
                  <a:pt x="598195" y="0"/>
                </a:lnTo>
              </a:path>
            </a:pathLst>
          </a:custGeom>
          <a:noFill/>
          <a:ln w="34925">
            <a:solidFill>
              <a:srgbClr val="8FB3F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906328" y="2852965"/>
            <a:ext cx="2194378" cy="782116"/>
          </a:xfrm>
          <a:custGeom>
            <a:avLst/>
            <a:gdLst/>
            <a:ahLst/>
            <a:cxnLst/>
            <a:rect l="l" t="t" r="r" b="b"/>
            <a:pathLst>
              <a:path w="2194378" h="782116">
                <a:moveTo>
                  <a:pt x="0" y="782116"/>
                </a:moveTo>
                <a:lnTo>
                  <a:pt x="31850" y="703464"/>
                </a:lnTo>
                <a:lnTo>
                  <a:pt x="69230" y="627284"/>
                </a:lnTo>
                <a:lnTo>
                  <a:pt x="111950" y="553966"/>
                </a:lnTo>
                <a:lnTo>
                  <a:pt x="159791" y="483881"/>
                </a:lnTo>
                <a:lnTo>
                  <a:pt x="212510" y="417388"/>
                </a:lnTo>
                <a:lnTo>
                  <a:pt x="269838" y="354825"/>
                </a:lnTo>
                <a:lnTo>
                  <a:pt x="331483" y="296512"/>
                </a:lnTo>
                <a:lnTo>
                  <a:pt x="397131" y="242744"/>
                </a:lnTo>
                <a:lnTo>
                  <a:pt x="466448" y="193798"/>
                </a:lnTo>
                <a:lnTo>
                  <a:pt x="539080" y="149920"/>
                </a:lnTo>
                <a:lnTo>
                  <a:pt x="614657" y="111336"/>
                </a:lnTo>
                <a:lnTo>
                  <a:pt x="692794" y="78242"/>
                </a:lnTo>
                <a:lnTo>
                  <a:pt x="773093" y="50807"/>
                </a:lnTo>
                <a:lnTo>
                  <a:pt x="855144" y="29170"/>
                </a:lnTo>
                <a:lnTo>
                  <a:pt x="938530" y="13441"/>
                </a:lnTo>
                <a:lnTo>
                  <a:pt x="1022825" y="3701"/>
                </a:lnTo>
                <a:lnTo>
                  <a:pt x="1107601" y="0"/>
                </a:lnTo>
                <a:lnTo>
                  <a:pt x="1192425" y="2356"/>
                </a:lnTo>
                <a:lnTo>
                  <a:pt x="1276864" y="10757"/>
                </a:lnTo>
                <a:lnTo>
                  <a:pt x="1360489" y="25160"/>
                </a:lnTo>
                <a:lnTo>
                  <a:pt x="1442874" y="45493"/>
                </a:lnTo>
                <a:lnTo>
                  <a:pt x="1523598" y="71651"/>
                </a:lnTo>
                <a:lnTo>
                  <a:pt x="1602250" y="103501"/>
                </a:lnTo>
                <a:lnTo>
                  <a:pt x="1678430" y="140881"/>
                </a:lnTo>
                <a:lnTo>
                  <a:pt x="1751748" y="183601"/>
                </a:lnTo>
                <a:lnTo>
                  <a:pt x="1821833" y="231442"/>
                </a:lnTo>
                <a:lnTo>
                  <a:pt x="1888326" y="284161"/>
                </a:lnTo>
                <a:lnTo>
                  <a:pt x="1950889" y="341489"/>
                </a:lnTo>
                <a:lnTo>
                  <a:pt x="2009202" y="403134"/>
                </a:lnTo>
                <a:lnTo>
                  <a:pt x="2062970" y="468782"/>
                </a:lnTo>
                <a:lnTo>
                  <a:pt x="2111916" y="538099"/>
                </a:lnTo>
                <a:lnTo>
                  <a:pt x="2155794" y="610731"/>
                </a:lnTo>
                <a:lnTo>
                  <a:pt x="2194378" y="686308"/>
                </a:lnTo>
              </a:path>
            </a:pathLst>
          </a:custGeom>
          <a:noFill/>
          <a:ln w="15875">
            <a:solidFill>
              <a:srgbClr val="3559C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946013" y="4448214"/>
            <a:ext cx="2194378" cy="782116"/>
          </a:xfrm>
          <a:custGeom>
            <a:avLst/>
            <a:gdLst/>
            <a:ahLst/>
            <a:cxnLst/>
            <a:rect l="l" t="t" r="r" b="b"/>
            <a:pathLst>
              <a:path w="2194378" h="782116">
                <a:moveTo>
                  <a:pt x="2194378" y="0"/>
                </a:moveTo>
                <a:lnTo>
                  <a:pt x="2162528" y="78652"/>
                </a:lnTo>
                <a:lnTo>
                  <a:pt x="2125148" y="154832"/>
                </a:lnTo>
                <a:lnTo>
                  <a:pt x="2082428" y="228150"/>
                </a:lnTo>
                <a:lnTo>
                  <a:pt x="2034587" y="298235"/>
                </a:lnTo>
                <a:lnTo>
                  <a:pt x="1981868" y="364728"/>
                </a:lnTo>
                <a:lnTo>
                  <a:pt x="1924540" y="427291"/>
                </a:lnTo>
                <a:lnTo>
                  <a:pt x="1862895" y="485604"/>
                </a:lnTo>
                <a:lnTo>
                  <a:pt x="1797247" y="539372"/>
                </a:lnTo>
                <a:lnTo>
                  <a:pt x="1727930" y="588318"/>
                </a:lnTo>
                <a:lnTo>
                  <a:pt x="1655298" y="632196"/>
                </a:lnTo>
                <a:lnTo>
                  <a:pt x="1579721" y="670780"/>
                </a:lnTo>
                <a:lnTo>
                  <a:pt x="1501584" y="703874"/>
                </a:lnTo>
                <a:lnTo>
                  <a:pt x="1421285" y="731309"/>
                </a:lnTo>
                <a:lnTo>
                  <a:pt x="1339234" y="752946"/>
                </a:lnTo>
                <a:lnTo>
                  <a:pt x="1255848" y="768675"/>
                </a:lnTo>
                <a:lnTo>
                  <a:pt x="1171553" y="778415"/>
                </a:lnTo>
                <a:lnTo>
                  <a:pt x="1086777" y="782116"/>
                </a:lnTo>
                <a:lnTo>
                  <a:pt x="1001953" y="779760"/>
                </a:lnTo>
                <a:lnTo>
                  <a:pt x="917514" y="771359"/>
                </a:lnTo>
                <a:lnTo>
                  <a:pt x="833889" y="756956"/>
                </a:lnTo>
                <a:lnTo>
                  <a:pt x="751504" y="736623"/>
                </a:lnTo>
                <a:lnTo>
                  <a:pt x="670780" y="710465"/>
                </a:lnTo>
                <a:lnTo>
                  <a:pt x="592128" y="678615"/>
                </a:lnTo>
                <a:lnTo>
                  <a:pt x="515948" y="641235"/>
                </a:lnTo>
                <a:lnTo>
                  <a:pt x="442630" y="598515"/>
                </a:lnTo>
                <a:lnTo>
                  <a:pt x="372545" y="550674"/>
                </a:lnTo>
                <a:lnTo>
                  <a:pt x="306052" y="497955"/>
                </a:lnTo>
                <a:lnTo>
                  <a:pt x="243489" y="440627"/>
                </a:lnTo>
                <a:lnTo>
                  <a:pt x="185176" y="378982"/>
                </a:lnTo>
                <a:lnTo>
                  <a:pt x="131408" y="313334"/>
                </a:lnTo>
                <a:lnTo>
                  <a:pt x="82462" y="244017"/>
                </a:lnTo>
                <a:lnTo>
                  <a:pt x="38584" y="171385"/>
                </a:lnTo>
                <a:lnTo>
                  <a:pt x="0" y="95808"/>
                </a:lnTo>
              </a:path>
            </a:pathLst>
          </a:custGeom>
          <a:noFill/>
          <a:ln w="15875">
            <a:solidFill>
              <a:srgbClr val="3559C4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46120" y="3264408"/>
            <a:ext cx="1554480" cy="1554480"/>
          </a:xfrm>
          <a:prstGeom prst="ellipse">
            <a:avLst/>
          </a:prstGeom>
          <a:solidFill>
            <a:srgbClr val="1F4AA8"/>
          </a:solidFill>
          <a:ln w="19050">
            <a:solidFill>
              <a:srgbClr val="8FB3F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3675887"/>
            <a:ext cx="1554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Webuddy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C9D6F2"/>
                </a:solidFill>
                <a:latin typeface="Helvetica Neue"/>
                <a:ea typeface="PingFang SC"/>
              </a:rPr>
              <a:t>RSI 飞轮</a:t>
            </a:r>
          </a:p>
        </p:txBody>
      </p:sp>
      <p:sp>
        <p:nvSpPr>
          <p:cNvPr id="15" name="Oval 14"/>
          <p:cNvSpPr/>
          <p:nvPr/>
        </p:nvSpPr>
        <p:spPr>
          <a:xfrm>
            <a:off x="3022092" y="2421196"/>
            <a:ext cx="310896" cy="310896"/>
          </a:xfrm>
          <a:prstGeom prst="ellipse">
            <a:avLst/>
          </a:prstGeom>
          <a:solidFill>
            <a:srgbClr val="8FB3FF"/>
          </a:solidFill>
          <a:ln w="31750">
            <a:solidFill>
              <a:srgbClr val="0E1A2E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" y="1707964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Helvetica Neue"/>
                <a:ea typeface="PingFang SC"/>
              </a:rPr>
              <a:t>交付工单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智能体改好代码，构建不过自己重改</a:t>
            </a:r>
          </a:p>
        </p:txBody>
      </p:sp>
      <p:sp>
        <p:nvSpPr>
          <p:cNvPr id="17" name="Oval 16"/>
          <p:cNvSpPr/>
          <p:nvPr/>
        </p:nvSpPr>
        <p:spPr>
          <a:xfrm>
            <a:off x="4713732" y="2421196"/>
            <a:ext cx="310896" cy="310896"/>
          </a:xfrm>
          <a:prstGeom prst="ellipse">
            <a:avLst/>
          </a:prstGeom>
          <a:solidFill>
            <a:srgbClr val="8FB3FF"/>
          </a:solidFill>
          <a:ln w="31750">
            <a:solidFill>
              <a:srgbClr val="0E1A2E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6300" y="1707964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Helvetica Neue"/>
                <a:ea typeface="PingFang SC"/>
              </a:rPr>
              <a:t>人工验收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通过或打回，打回必须写明原因</a:t>
            </a:r>
          </a:p>
        </p:txBody>
      </p:sp>
      <p:sp>
        <p:nvSpPr>
          <p:cNvPr id="19" name="Oval 18"/>
          <p:cNvSpPr/>
          <p:nvPr/>
        </p:nvSpPr>
        <p:spPr>
          <a:xfrm>
            <a:off x="5559552" y="3886200"/>
            <a:ext cx="310896" cy="310896"/>
          </a:xfrm>
          <a:prstGeom prst="ellipse">
            <a:avLst/>
          </a:prstGeom>
          <a:solidFill>
            <a:srgbClr val="8FB3FF"/>
          </a:solidFill>
          <a:ln w="31750">
            <a:solidFill>
              <a:srgbClr val="0E1A2E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07608" y="3675887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Helvetica Neue"/>
                <a:ea typeface="PingFang SC"/>
              </a:rPr>
              <a:t>记成教训和用例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打回原因记成教训，典型工单收进评测集</a:t>
            </a:r>
          </a:p>
        </p:txBody>
      </p:sp>
      <p:sp>
        <p:nvSpPr>
          <p:cNvPr id="21" name="Oval 20"/>
          <p:cNvSpPr/>
          <p:nvPr/>
        </p:nvSpPr>
        <p:spPr>
          <a:xfrm>
            <a:off x="4713732" y="5351203"/>
            <a:ext cx="310896" cy="310896"/>
          </a:xfrm>
          <a:prstGeom prst="ellipse">
            <a:avLst/>
          </a:prstGeom>
          <a:solidFill>
            <a:srgbClr val="8FB3FF"/>
          </a:solidFill>
          <a:ln w="31750">
            <a:solidFill>
              <a:srgbClr val="0E1A2E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6300" y="5753539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Helvetica Neue"/>
                <a:ea typeface="PingFang SC"/>
              </a:rPr>
              <a:t>回放打分再上线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先拿评测用例回放打分，分数不降才上线</a:t>
            </a:r>
          </a:p>
        </p:txBody>
      </p:sp>
      <p:sp>
        <p:nvSpPr>
          <p:cNvPr id="23" name="Oval 22"/>
          <p:cNvSpPr/>
          <p:nvPr/>
        </p:nvSpPr>
        <p:spPr>
          <a:xfrm>
            <a:off x="3022092" y="5351203"/>
            <a:ext cx="310896" cy="310896"/>
          </a:xfrm>
          <a:prstGeom prst="ellipse">
            <a:avLst/>
          </a:prstGeom>
          <a:solidFill>
            <a:srgbClr val="8FB3FF"/>
          </a:solidFill>
          <a:ln w="31750">
            <a:solidFill>
              <a:srgbClr val="0E1A2E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" y="5753539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Helvetica Neue"/>
                <a:ea typeface="PingFang SC"/>
              </a:rPr>
              <a:t>相似工单少走弯路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教训自动带进相似工单的提示词</a:t>
            </a:r>
          </a:p>
        </p:txBody>
      </p:sp>
      <p:sp>
        <p:nvSpPr>
          <p:cNvPr id="25" name="Oval 24"/>
          <p:cNvSpPr/>
          <p:nvPr/>
        </p:nvSpPr>
        <p:spPr>
          <a:xfrm>
            <a:off x="2176272" y="3886200"/>
            <a:ext cx="310896" cy="310896"/>
          </a:xfrm>
          <a:prstGeom prst="ellipse">
            <a:avLst/>
          </a:prstGeom>
          <a:solidFill>
            <a:srgbClr val="8FB3FF"/>
          </a:solidFill>
          <a:ln w="31750">
            <a:solidFill>
              <a:srgbClr val="0E1A2E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3675887"/>
            <a:ext cx="17830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Helvetica Neue"/>
                <a:ea typeface="PingFang SC"/>
              </a:rPr>
              <a:t>人手省下来</a:t>
            </a:r>
          </a:p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目标是每张单要人改的更少，同样人手接更多项目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965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FB0CC"/>
                </a:solidFill>
                <a:latin typeface="Helvetica Neue"/>
                <a:ea typeface="PingFang SC"/>
              </a:rPr>
              <a:t>飞轮每转一圈，都会留下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0" y="2468880"/>
            <a:ext cx="3410712" cy="0"/>
          </a:xfrm>
          <a:prstGeom prst="line">
            <a:avLst/>
          </a:prstGeom>
          <a:ln w="9525">
            <a:solidFill>
              <a:srgbClr val="2C3B57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8229600" y="257860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Helvetica Neue"/>
                <a:ea typeface="PingFang SC"/>
              </a:rPr>
              <a:t>40</a:t>
            </a:r>
            <a:r>
              <a:rPr sz="1400" b="1">
                <a:solidFill>
                  <a:srgbClr val="FFFFFF"/>
                </a:solidFill>
                <a:latin typeface="Helvetica Neue"/>
                <a:ea typeface="PingFang SC"/>
              </a:rPr>
              <a:t>  个评测用例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14553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7C2D6"/>
                </a:solidFill>
                <a:latin typeface="Helvetica Neue"/>
                <a:ea typeface="PingFang SC"/>
              </a:rPr>
              <a:t>改提示词、换模型之前先回放打分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0" y="3657600"/>
            <a:ext cx="3410712" cy="0"/>
          </a:xfrm>
          <a:prstGeom prst="line">
            <a:avLst/>
          </a:prstGeom>
          <a:ln w="9525">
            <a:solidFill>
              <a:srgbClr val="2C3B57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8229600" y="376732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Helvetica Neue"/>
                <a:ea typeface="PingFang SC"/>
              </a:rPr>
              <a:t>13</a:t>
            </a:r>
            <a:r>
              <a:rPr sz="1400" b="1">
                <a:solidFill>
                  <a:srgbClr val="FFFFFF"/>
                </a:solidFill>
                <a:latin typeface="Helvetica Neue"/>
                <a:ea typeface="PingFang SC"/>
              </a:rPr>
              <a:t>  条教训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33425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7C2D6"/>
                </a:solidFill>
                <a:latin typeface="Helvetica Neue"/>
                <a:ea typeface="PingFang SC"/>
              </a:rPr>
              <a:t>来自验收打回和对照官方修复的复盘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0" y="4846320"/>
            <a:ext cx="3410712" cy="0"/>
          </a:xfrm>
          <a:prstGeom prst="line">
            <a:avLst/>
          </a:prstGeom>
          <a:ln w="9525">
            <a:solidFill>
              <a:srgbClr val="2C3B57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8229600" y="4956048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Helvetica Neue"/>
                <a:ea typeface="PingFang SC"/>
              </a:rPr>
              <a:t>1</a:t>
            </a:r>
            <a:r>
              <a:rPr sz="1400" b="1">
                <a:solidFill>
                  <a:srgbClr val="FFFFFF"/>
                </a:solidFill>
                <a:latin typeface="Helvetica Neue"/>
                <a:ea typeface="PingFang SC"/>
              </a:rPr>
              <a:t>  条上线规矩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522976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B7C2D6"/>
                </a:solidFill>
                <a:latin typeface="Helvetica Neue"/>
                <a:ea typeface="PingFang SC"/>
              </a:rPr>
              <a:t>回放分数不降，新版本才上线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229600" y="6035040"/>
            <a:ext cx="3410712" cy="0"/>
          </a:xfrm>
          <a:prstGeom prst="line">
            <a:avLst/>
          </a:prstGeom>
          <a:ln w="9525">
            <a:solidFill>
              <a:srgbClr val="2C3B57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C6B84"/>
                </a:solidFill>
                <a:latin typeface="Helvetica Neue"/>
                <a:ea typeface="PingFang SC"/>
              </a:rPr>
              <a:t>17</a:t>
            </a:r>
          </a:p>
        </p:txBody>
      </p:sp>
      <p:pic>
        <p:nvPicPr>
          <p:cNvPr id="39" name="Picture 38" descr="log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技术路线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91640"/>
            <a:ext cx="1371600" cy="118872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业务应用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310128"/>
            <a:ext cx="1371600" cy="164592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智能体编排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57800"/>
            <a:ext cx="1371600" cy="86868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代码知识库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691640"/>
            <a:ext cx="388620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EA6DA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12848" y="1755648"/>
            <a:ext cx="36667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运维服务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057400"/>
            <a:ext cx="118567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2130552"/>
            <a:ext cx="118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需求答复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59736"/>
            <a:ext cx="1185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能不能做 · 多久能做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3383" y="2057400"/>
            <a:ext cx="118567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3383" y="2130552"/>
            <a:ext cx="118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日常维护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3383" y="2459736"/>
            <a:ext cx="1185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故障定位 · 缺陷修复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2208" y="2057400"/>
            <a:ext cx="118567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2208" y="2130552"/>
            <a:ext cx="1185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功能扩展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2208" y="2459736"/>
            <a:ext cx="1185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功能开发 · 接口集成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691640"/>
            <a:ext cx="260604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EA6DA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755648"/>
            <a:ext cx="238658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重构服务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057400"/>
            <a:ext cx="1175004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130552"/>
            <a:ext cx="11750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系统重构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59736"/>
            <a:ext cx="11750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业务域拆分 · 分批推进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66075" y="2057400"/>
            <a:ext cx="1175004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6075" y="2130552"/>
            <a:ext cx="11750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系统升级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6075" y="2459736"/>
            <a:ext cx="11750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6B6B6B"/>
                </a:solidFill>
                <a:latin typeface="Helvetica Neue"/>
                <a:ea typeface="PingFang SC"/>
              </a:rPr>
              <a:t>依赖升级 · 信创适配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69680" y="1691640"/>
            <a:ext cx="2194560" cy="1188720"/>
          </a:xfrm>
          <a:prstGeom prst="roundRect">
            <a:avLst>
              <a:gd name="adj" fmla="val 12000"/>
            </a:avLst>
          </a:prstGeom>
          <a:solidFill>
            <a:srgbClr val="F3F2EE"/>
          </a:solidFill>
          <a:ln w="11430">
            <a:solidFill>
              <a:srgbClr val="D6D5CF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9407" y="1755648"/>
            <a:ext cx="19751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可扩展服务（规划）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19" y="2057400"/>
            <a:ext cx="621791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19" y="2057400"/>
            <a:ext cx="6217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工单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获取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56063" y="2057400"/>
            <a:ext cx="621791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56063" y="2057400"/>
            <a:ext cx="6217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会议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纪要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51007" y="2057400"/>
            <a:ext cx="621791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1007" y="2057400"/>
            <a:ext cx="621791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报价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评估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46220" y="2880360"/>
            <a:ext cx="0" cy="146304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7429500" y="2880360"/>
            <a:ext cx="0" cy="146304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9966959" y="2880360"/>
            <a:ext cx="0" cy="146304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4046220" y="3026664"/>
            <a:ext cx="5920739" cy="0"/>
          </a:xfrm>
          <a:prstGeom prst="line">
            <a:avLst/>
          </a:prstGeom>
          <a:ln w="12700">
            <a:solidFill>
              <a:srgbClr val="8EA6DA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6583680" y="3026664"/>
            <a:ext cx="0" cy="283464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38" name="TextBox 37"/>
          <p:cNvSpPr txBox="1"/>
          <p:nvPr/>
        </p:nvSpPr>
        <p:spPr>
          <a:xfrm>
            <a:off x="6656832" y="304495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提交任务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03120" y="3310128"/>
            <a:ext cx="8961120" cy="1645920"/>
          </a:xfrm>
          <a:prstGeom prst="roundRect">
            <a:avLst>
              <a:gd name="adj" fmla="val 12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0" y="3383280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编码智能体编排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40279" y="373075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0279" y="385876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任务受理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79" y="420624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关联业务与代码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63111" y="417880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45" name="Rounded Rectangle 44"/>
          <p:cNvSpPr/>
          <p:nvPr/>
        </p:nvSpPr>
        <p:spPr>
          <a:xfrm>
            <a:off x="3718560" y="373075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18560" y="385876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问题定位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18560" y="420624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找到相关代码位置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41392" y="417880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49" name="Rounded Rectangle 48"/>
          <p:cNvSpPr/>
          <p:nvPr/>
        </p:nvSpPr>
        <p:spPr>
          <a:xfrm>
            <a:off x="5196840" y="373075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96840" y="385876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方案规划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96840" y="420624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拆分改动与步骤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519672" y="417880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53" name="Rounded Rectangle 52"/>
          <p:cNvSpPr/>
          <p:nvPr/>
        </p:nvSpPr>
        <p:spPr>
          <a:xfrm>
            <a:off x="6675119" y="373075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19" y="385876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开发执行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19" y="420624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按文件分工改代码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997951" y="417880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57" name="Rounded Rectangle 56"/>
          <p:cNvSpPr/>
          <p:nvPr/>
        </p:nvSpPr>
        <p:spPr>
          <a:xfrm>
            <a:off x="8153399" y="373075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53399" y="385876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验证审查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3399" y="420624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构建测试与诊断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476231" y="4178808"/>
            <a:ext cx="128016" cy="0"/>
          </a:xfrm>
          <a:prstGeom prst="line">
            <a:avLst/>
          </a:prstGeom>
          <a:ln w="15875">
            <a:solidFill>
              <a:srgbClr val="DCE4F5"/>
            </a:solidFill>
            <a:tailEnd type="triangle" w="med" len="med"/>
          </a:ln>
        </p:spPr>
      </p:cxnSp>
      <p:sp>
        <p:nvSpPr>
          <p:cNvPr id="61" name="Rounded Rectangle 60"/>
          <p:cNvSpPr/>
          <p:nvPr/>
        </p:nvSpPr>
        <p:spPr>
          <a:xfrm>
            <a:off x="9631680" y="3730752"/>
            <a:ext cx="129540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31680" y="3858768"/>
            <a:ext cx="1295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人工验收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1680" y="4206240"/>
            <a:ext cx="1295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通过交付 · 退回重改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4681728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CE4F5"/>
                </a:solidFill>
                <a:latin typeface="Helvetica Neue"/>
                <a:ea typeface="PingFang SC"/>
              </a:rPr>
              <a:t>独立分支修改  ·  退回自动重改  ·  人可随时接手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583680" y="4956048"/>
            <a:ext cx="0" cy="301752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66" name="TextBox 65"/>
          <p:cNvSpPr txBox="1"/>
          <p:nvPr/>
        </p:nvSpPr>
        <p:spPr>
          <a:xfrm>
            <a:off x="6675120" y="501091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1F4AA8"/>
                </a:solidFill>
                <a:latin typeface="Helvetica Neue"/>
                <a:ea typeface="PingFang SC"/>
              </a:rPr>
              <a:t>读取项目知识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103120" y="5257800"/>
            <a:ext cx="8961120" cy="868680"/>
          </a:xfrm>
          <a:prstGeom prst="roundRect">
            <a:avLst>
              <a:gd name="adj" fmla="val 12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03120" y="5385816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业务地图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103120" y="574243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业务域 · 业务流 · 数据表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43400" y="5385816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代码证据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43400" y="574243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入口 · 调用链 · 文件行号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4343400" y="5422392"/>
            <a:ext cx="0" cy="53949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73" name="TextBox 72"/>
          <p:cNvSpPr txBox="1"/>
          <p:nvPr/>
        </p:nvSpPr>
        <p:spPr>
          <a:xfrm>
            <a:off x="6583680" y="5385816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项目知识页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574243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人工确认 · 持续更新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583680" y="5422392"/>
            <a:ext cx="0" cy="53949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sp>
        <p:nvSpPr>
          <p:cNvPr id="76" name="TextBox 75"/>
          <p:cNvSpPr txBox="1"/>
          <p:nvPr/>
        </p:nvSpPr>
        <p:spPr>
          <a:xfrm>
            <a:off x="8823960" y="5385816"/>
            <a:ext cx="2240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41414"/>
                </a:solidFill>
                <a:latin typeface="Helvetica Neue"/>
                <a:ea typeface="PingFang SC"/>
              </a:rPr>
              <a:t>本地离线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23960" y="5742432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代码不出内网 · 支持国产模型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823960" y="5422392"/>
            <a:ext cx="0" cy="539496"/>
          </a:xfrm>
          <a:prstGeom prst="line">
            <a:avLst/>
          </a:prstGeom>
          <a:ln w="9525">
            <a:solidFill>
              <a:srgbClr val="8EA6DA"/>
            </a:solidFill>
          </a:ln>
        </p:spPr>
      </p:cxnSp>
      <p:cxnSp>
        <p:nvCxnSpPr>
          <p:cNvPr id="79" name="Connector 78"/>
          <p:cNvCxnSpPr/>
          <p:nvPr/>
        </p:nvCxnSpPr>
        <p:spPr>
          <a:xfrm>
            <a:off x="11064240" y="2286000"/>
            <a:ext cx="228600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cxnSp>
        <p:nvCxnSpPr>
          <p:cNvPr id="80" name="Connector 79"/>
          <p:cNvCxnSpPr/>
          <p:nvPr/>
        </p:nvCxnSpPr>
        <p:spPr>
          <a:xfrm>
            <a:off x="11292840" y="2286000"/>
            <a:ext cx="0" cy="3401568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cxnSp>
        <p:nvCxnSpPr>
          <p:cNvPr id="81" name="Connector 80"/>
          <p:cNvCxnSpPr/>
          <p:nvPr/>
        </p:nvCxnSpPr>
        <p:spPr>
          <a:xfrm flipH="1">
            <a:off x="11082528" y="5687568"/>
            <a:ext cx="210312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cxnSp>
        <p:nvCxnSpPr>
          <p:cNvPr id="82" name="Connector 81"/>
          <p:cNvCxnSpPr/>
          <p:nvPr/>
        </p:nvCxnSpPr>
        <p:spPr>
          <a:xfrm flipH="1">
            <a:off x="11082528" y="4636008"/>
            <a:ext cx="210312" cy="0"/>
          </a:xfrm>
          <a:prstGeom prst="line">
            <a:avLst/>
          </a:prstGeom>
          <a:ln w="12700">
            <a:solidFill>
              <a:srgbClr val="1F4AA8"/>
            </a:solidFill>
            <a:tailEnd type="triangle" w="med" len="med"/>
          </a:ln>
        </p:spPr>
      </p:cxnSp>
      <p:sp>
        <p:nvSpPr>
          <p:cNvPr id="83" name="TextBox 82"/>
          <p:cNvSpPr txBox="1"/>
          <p:nvPr/>
        </p:nvSpPr>
        <p:spPr>
          <a:xfrm>
            <a:off x="11311128" y="3063240"/>
            <a:ext cx="29260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越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用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越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18</a:t>
            </a:r>
          </a:p>
        </p:txBody>
      </p:sp>
      <p:pic>
        <p:nvPicPr>
          <p:cNvPr id="85" name="Picture 8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代码留在客户内网里，智能体做过的每件事都有记录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11091672" cy="402336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8EA6DA"/>
            </a:solidFill>
            <a:prstDash val="dash"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9659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客户内网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25146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69748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代码仓库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0632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源码原样不动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9816" y="25146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9816" y="269748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代码知识库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9816" y="30632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在本地解析，不调用模型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66944" y="25146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269748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智能体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6944" y="30632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Helvetica Neue"/>
                <a:ea typeface="PingFang SC"/>
              </a:rPr>
              <a:t>读知识库、改代码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34072" y="25146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2" y="269748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独立分支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30632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每张工单一个分支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514600"/>
            <a:ext cx="1783080" cy="960120"/>
          </a:xfrm>
          <a:prstGeom prst="roundRect">
            <a:avLst>
              <a:gd name="adj" fmla="val 8000"/>
            </a:avLst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69748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F4AA8"/>
                </a:solidFill>
                <a:latin typeface="Helvetica Neue"/>
                <a:ea typeface="PingFang SC"/>
              </a:rPr>
              <a:t>主干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06324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人审核后合入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61487" y="2994660"/>
            <a:ext cx="292609" cy="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>
            <a:off x="4928616" y="2994660"/>
            <a:ext cx="292608" cy="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>
            <a:off x="7095744" y="2994660"/>
            <a:ext cx="292608" cy="0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>
            <a:off x="9262872" y="2994660"/>
            <a:ext cx="292608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8942832" y="2221992"/>
            <a:ext cx="932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1F4AA8"/>
                </a:solidFill>
                <a:latin typeface="Helvetica Neue"/>
                <a:ea typeface="PingFang SC"/>
              </a:rPr>
              <a:t>人合入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58483" y="3520439"/>
            <a:ext cx="0" cy="365761"/>
          </a:xfrm>
          <a:prstGeom prst="line">
            <a:avLst/>
          </a:prstGeom>
          <a:ln w="15875">
            <a:solidFill>
              <a:srgbClr val="6B6B6B"/>
            </a:solidFill>
            <a:tailEnd type="triangle" w="med" len="med"/>
          </a:ln>
        </p:spPr>
      </p:cxnSp>
      <p:sp>
        <p:nvSpPr>
          <p:cNvPr id="26" name="Rounded Rectangle 25"/>
          <p:cNvSpPr/>
          <p:nvPr/>
        </p:nvSpPr>
        <p:spPr>
          <a:xfrm>
            <a:off x="4786883" y="393192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6883" y="4023359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国产大模型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6883" y="433425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Kimi、GLM 等，可部署在内网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2688" y="5029200"/>
            <a:ext cx="10323576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32688" y="518464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运行记录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184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B2B2B"/>
                </a:solidFill>
                <a:latin typeface="Helvetica Neue"/>
                <a:ea typeface="PingFang SC"/>
              </a:rPr>
              <a:t>智能体每次运行，都记下依据了哪些代码、用了哪个模型、改了什么、花了多少。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19</a:t>
            </a:r>
          </a:p>
        </p:txBody>
      </p:sp>
      <p:pic>
        <p:nvPicPr>
          <p:cNvPr id="33" name="Picture 3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Helvetica Neue"/>
                <a:ea typeface="PingFang SC"/>
              </a:rPr>
              <a:t>Road Map</a:t>
            </a:r>
          </a:p>
        </p:txBody>
      </p:sp>
      <p:sp>
        <p:nvSpPr>
          <p:cNvPr id="3" name="Freeform 2"/>
          <p:cNvSpPr/>
          <p:nvPr/>
        </p:nvSpPr>
        <p:spPr>
          <a:xfrm>
            <a:off x="548639" y="1600200"/>
            <a:ext cx="1287649" cy="1536191"/>
          </a:xfrm>
          <a:custGeom>
            <a:avLst/>
            <a:gdLst/>
            <a:ahLst/>
            <a:cxnLst/>
            <a:rect l="l" t="t" r="r" b="b"/>
            <a:pathLst>
              <a:path w="1287649" h="1536191">
                <a:moveTo>
                  <a:pt x="0" y="0"/>
                </a:moveTo>
                <a:lnTo>
                  <a:pt x="857250" y="0"/>
                </a:lnTo>
                <a:lnTo>
                  <a:pt x="1287649" y="1536191"/>
                </a:lnTo>
                <a:lnTo>
                  <a:pt x="573865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18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Java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.NET</a:t>
            </a:r>
          </a:p>
        </p:txBody>
      </p:sp>
      <p:sp>
        <p:nvSpPr>
          <p:cNvPr id="5" name="Freeform 4"/>
          <p:cNvSpPr/>
          <p:nvPr/>
        </p:nvSpPr>
        <p:spPr>
          <a:xfrm>
            <a:off x="1497329" y="1600200"/>
            <a:ext cx="1098463" cy="1536191"/>
          </a:xfrm>
          <a:custGeom>
            <a:avLst/>
            <a:gdLst/>
            <a:ahLst/>
            <a:cxnLst/>
            <a:rect l="l" t="t" r="r" b="b"/>
            <a:pathLst>
              <a:path w="1098463" h="1536191">
                <a:moveTo>
                  <a:pt x="0" y="0"/>
                </a:moveTo>
                <a:lnTo>
                  <a:pt x="811531" y="0"/>
                </a:lnTo>
                <a:lnTo>
                  <a:pt x="1098463" y="1536191"/>
                </a:lnTo>
                <a:lnTo>
                  <a:pt x="430399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71255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Go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Python</a:t>
            </a:r>
          </a:p>
        </p:txBody>
      </p:sp>
      <p:sp>
        <p:nvSpPr>
          <p:cNvPr id="7" name="Freeform 6"/>
          <p:cNvSpPr/>
          <p:nvPr/>
        </p:nvSpPr>
        <p:spPr>
          <a:xfrm>
            <a:off x="2400299" y="1600200"/>
            <a:ext cx="954997" cy="1536191"/>
          </a:xfrm>
          <a:custGeom>
            <a:avLst/>
            <a:gdLst/>
            <a:ahLst/>
            <a:cxnLst/>
            <a:rect l="l" t="t" r="r" b="b"/>
            <a:pathLst>
              <a:path w="954997" h="1536191">
                <a:moveTo>
                  <a:pt x="0" y="0"/>
                </a:moveTo>
                <a:lnTo>
                  <a:pt x="811531" y="0"/>
                </a:lnTo>
                <a:lnTo>
                  <a:pt x="954997" y="1536191"/>
                </a:lnTo>
                <a:lnTo>
                  <a:pt x="286933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2492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跨语言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重写</a:t>
            </a:r>
          </a:p>
        </p:txBody>
      </p:sp>
      <p:sp>
        <p:nvSpPr>
          <p:cNvPr id="9" name="Freeform 8"/>
          <p:cNvSpPr/>
          <p:nvPr/>
        </p:nvSpPr>
        <p:spPr>
          <a:xfrm>
            <a:off x="3303270" y="1600200"/>
            <a:ext cx="811530" cy="1536191"/>
          </a:xfrm>
          <a:custGeom>
            <a:avLst/>
            <a:gdLst/>
            <a:ahLst/>
            <a:cxnLst/>
            <a:rect l="l" t="t" r="r" b="b"/>
            <a:pathLst>
              <a:path w="811530" h="1536191">
                <a:moveTo>
                  <a:pt x="0" y="0"/>
                </a:moveTo>
                <a:lnTo>
                  <a:pt x="811530" y="0"/>
                </a:lnTo>
                <a:lnTo>
                  <a:pt x="811529" y="1536191"/>
                </a:lnTo>
                <a:lnTo>
                  <a:pt x="143466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33729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框架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迁移</a:t>
            </a:r>
          </a:p>
        </p:txBody>
      </p:sp>
      <p:sp>
        <p:nvSpPr>
          <p:cNvPr id="11" name="Freeform 10"/>
          <p:cNvSpPr/>
          <p:nvPr/>
        </p:nvSpPr>
        <p:spPr>
          <a:xfrm>
            <a:off x="4206239" y="1600200"/>
            <a:ext cx="811531" cy="1536191"/>
          </a:xfrm>
          <a:custGeom>
            <a:avLst/>
            <a:gdLst/>
            <a:ahLst/>
            <a:cxnLst/>
            <a:rect l="l" t="t" r="r" b="b"/>
            <a:pathLst>
              <a:path w="811531" h="1536191">
                <a:moveTo>
                  <a:pt x="1" y="0"/>
                </a:moveTo>
                <a:lnTo>
                  <a:pt x="811531" y="0"/>
                </a:lnTo>
                <a:lnTo>
                  <a:pt x="668064" y="1536191"/>
                </a:lnTo>
                <a:lnTo>
                  <a:pt x="0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4966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新旧系统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对接</a:t>
            </a:r>
          </a:p>
        </p:txBody>
      </p:sp>
      <p:sp>
        <p:nvSpPr>
          <p:cNvPr id="13" name="Freeform 12"/>
          <p:cNvSpPr/>
          <p:nvPr/>
        </p:nvSpPr>
        <p:spPr>
          <a:xfrm>
            <a:off x="4965743" y="1600200"/>
            <a:ext cx="954997" cy="1536191"/>
          </a:xfrm>
          <a:custGeom>
            <a:avLst/>
            <a:gdLst/>
            <a:ahLst/>
            <a:cxnLst/>
            <a:rect l="l" t="t" r="r" b="b"/>
            <a:pathLst>
              <a:path w="954997" h="1536191">
                <a:moveTo>
                  <a:pt x="143466" y="0"/>
                </a:moveTo>
                <a:lnTo>
                  <a:pt x="954997" y="0"/>
                </a:lnTo>
                <a:lnTo>
                  <a:pt x="668064" y="1536191"/>
                </a:lnTo>
                <a:lnTo>
                  <a:pt x="0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96203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协议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转换</a:t>
            </a:r>
          </a:p>
        </p:txBody>
      </p:sp>
      <p:sp>
        <p:nvSpPr>
          <p:cNvPr id="15" name="Freeform 14"/>
          <p:cNvSpPr/>
          <p:nvPr/>
        </p:nvSpPr>
        <p:spPr>
          <a:xfrm>
            <a:off x="5725247" y="1600200"/>
            <a:ext cx="1098463" cy="1536191"/>
          </a:xfrm>
          <a:custGeom>
            <a:avLst/>
            <a:gdLst/>
            <a:ahLst/>
            <a:cxnLst/>
            <a:rect l="l" t="t" r="r" b="b"/>
            <a:pathLst>
              <a:path w="1098463" h="1536191">
                <a:moveTo>
                  <a:pt x="286933" y="0"/>
                </a:moveTo>
                <a:lnTo>
                  <a:pt x="1098463" y="0"/>
                </a:lnTo>
                <a:lnTo>
                  <a:pt x="668064" y="1536191"/>
                </a:lnTo>
                <a:lnTo>
                  <a:pt x="0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7440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环境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配置</a:t>
            </a:r>
          </a:p>
        </p:txBody>
      </p:sp>
      <p:sp>
        <p:nvSpPr>
          <p:cNvPr id="17" name="Freeform 16"/>
          <p:cNvSpPr/>
          <p:nvPr/>
        </p:nvSpPr>
        <p:spPr>
          <a:xfrm>
            <a:off x="6484751" y="1600200"/>
            <a:ext cx="1287649" cy="1536191"/>
          </a:xfrm>
          <a:custGeom>
            <a:avLst/>
            <a:gdLst/>
            <a:ahLst/>
            <a:cxnLst/>
            <a:rect l="l" t="t" r="r" b="b"/>
            <a:pathLst>
              <a:path w="1287649" h="1536191">
                <a:moveTo>
                  <a:pt x="430399" y="0"/>
                </a:moveTo>
                <a:lnTo>
                  <a:pt x="1287649" y="0"/>
                </a:lnTo>
                <a:lnTo>
                  <a:pt x="713784" y="1536191"/>
                </a:lnTo>
                <a:lnTo>
                  <a:pt x="0" y="1536191"/>
                </a:lnTo>
                <a:close/>
              </a:path>
            </a:pathLst>
          </a:custGeom>
          <a:solidFill>
            <a:srgbClr val="182B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8677" y="1600200"/>
            <a:ext cx="6223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服务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C9D6F2"/>
                </a:solidFill>
                <a:latin typeface="Helvetica Neue"/>
                <a:ea typeface="PingFang SC"/>
              </a:rPr>
              <a:t>巡检</a:t>
            </a:r>
          </a:p>
        </p:txBody>
      </p:sp>
      <p:sp>
        <p:nvSpPr>
          <p:cNvPr id="19" name="Freeform 18"/>
          <p:cNvSpPr/>
          <p:nvPr/>
        </p:nvSpPr>
        <p:spPr>
          <a:xfrm>
            <a:off x="1153247" y="3218687"/>
            <a:ext cx="1744849" cy="1536192"/>
          </a:xfrm>
          <a:custGeom>
            <a:avLst/>
            <a:gdLst/>
            <a:ahLst/>
            <a:cxnLst/>
            <a:rect l="l" t="t" r="r" b="b"/>
            <a:pathLst>
              <a:path w="1744849" h="1536192">
                <a:moveTo>
                  <a:pt x="0" y="0"/>
                </a:moveTo>
                <a:lnTo>
                  <a:pt x="1457916" y="0"/>
                </a:lnTo>
                <a:lnTo>
                  <a:pt x="1744849" y="1536192"/>
                </a:lnTo>
                <a:lnTo>
                  <a:pt x="573865" y="1536192"/>
                </a:lnTo>
                <a:close/>
              </a:path>
            </a:pathLst>
          </a:custGeom>
          <a:solidFill>
            <a:srgbClr val="1F3D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0493" y="3218687"/>
            <a:ext cx="10795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运维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harness</a:t>
            </a:r>
          </a:p>
        </p:txBody>
      </p:sp>
      <p:sp>
        <p:nvSpPr>
          <p:cNvPr id="21" name="Freeform 20"/>
          <p:cNvSpPr/>
          <p:nvPr/>
        </p:nvSpPr>
        <p:spPr>
          <a:xfrm>
            <a:off x="2702603" y="3218687"/>
            <a:ext cx="1412197" cy="1536192"/>
          </a:xfrm>
          <a:custGeom>
            <a:avLst/>
            <a:gdLst/>
            <a:ahLst/>
            <a:cxnLst/>
            <a:rect l="l" t="t" r="r" b="b"/>
            <a:pathLst>
              <a:path w="1412197" h="1536192">
                <a:moveTo>
                  <a:pt x="0" y="0"/>
                </a:moveTo>
                <a:lnTo>
                  <a:pt x="1412197" y="0"/>
                </a:lnTo>
                <a:lnTo>
                  <a:pt x="1412197" y="1536192"/>
                </a:lnTo>
                <a:lnTo>
                  <a:pt x="286933" y="1536192"/>
                </a:lnTo>
                <a:close/>
              </a:path>
            </a:pathLst>
          </a:custGeom>
          <a:solidFill>
            <a:srgbClr val="1F3D7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0663" y="3218687"/>
            <a:ext cx="10795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重构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harness</a:t>
            </a:r>
          </a:p>
        </p:txBody>
      </p:sp>
      <p:sp>
        <p:nvSpPr>
          <p:cNvPr id="23" name="Freeform 22"/>
          <p:cNvSpPr/>
          <p:nvPr/>
        </p:nvSpPr>
        <p:spPr>
          <a:xfrm>
            <a:off x="4206240" y="3218687"/>
            <a:ext cx="1412196" cy="1536192"/>
          </a:xfrm>
          <a:custGeom>
            <a:avLst/>
            <a:gdLst/>
            <a:ahLst/>
            <a:cxnLst/>
            <a:rect l="l" t="t" r="r" b="b"/>
            <a:pathLst>
              <a:path w="1412196" h="1536192">
                <a:moveTo>
                  <a:pt x="0" y="0"/>
                </a:moveTo>
                <a:lnTo>
                  <a:pt x="1412196" y="0"/>
                </a:lnTo>
                <a:lnTo>
                  <a:pt x="1125263" y="1536192"/>
                </a:lnTo>
                <a:lnTo>
                  <a:pt x="0" y="1536192"/>
                </a:lnTo>
                <a:close/>
              </a:path>
            </a:pathLst>
          </a:custGeom>
          <a:solidFill>
            <a:srgbClr val="C3C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00833" y="3218687"/>
            <a:ext cx="10795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A4456"/>
                </a:solidFill>
                <a:latin typeface="Helvetica Neue"/>
                <a:ea typeface="PingFang SC"/>
              </a:rPr>
              <a:t>接口适配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3A4456"/>
                </a:solidFill>
                <a:latin typeface="Helvetica Neue"/>
                <a:ea typeface="PingFang SC"/>
              </a:rPr>
              <a:t>harness</a:t>
            </a:r>
          </a:p>
        </p:txBody>
      </p:sp>
      <p:sp>
        <p:nvSpPr>
          <p:cNvPr id="25" name="Freeform 24"/>
          <p:cNvSpPr/>
          <p:nvPr/>
        </p:nvSpPr>
        <p:spPr>
          <a:xfrm>
            <a:off x="5422943" y="3218687"/>
            <a:ext cx="1744849" cy="1536192"/>
          </a:xfrm>
          <a:custGeom>
            <a:avLst/>
            <a:gdLst/>
            <a:ahLst/>
            <a:cxnLst/>
            <a:rect l="l" t="t" r="r" b="b"/>
            <a:pathLst>
              <a:path w="1744849" h="1536192">
                <a:moveTo>
                  <a:pt x="286933" y="0"/>
                </a:moveTo>
                <a:lnTo>
                  <a:pt x="1744849" y="0"/>
                </a:lnTo>
                <a:lnTo>
                  <a:pt x="1170984" y="1536192"/>
                </a:lnTo>
                <a:lnTo>
                  <a:pt x="0" y="1536192"/>
                </a:lnTo>
                <a:close/>
              </a:path>
            </a:pathLst>
          </a:custGeom>
          <a:solidFill>
            <a:srgbClr val="C3C8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1003" y="3218687"/>
            <a:ext cx="1079543" cy="1536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3A4456"/>
                </a:solidFill>
                <a:latin typeface="Helvetica Neue"/>
                <a:ea typeface="PingFang SC"/>
              </a:rPr>
              <a:t>资源维护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3A4456"/>
                </a:solidFill>
                <a:latin typeface="Helvetica Neue"/>
                <a:ea typeface="PingFang SC"/>
              </a:rPr>
              <a:t>harness</a:t>
            </a:r>
          </a:p>
        </p:txBody>
      </p:sp>
      <p:sp>
        <p:nvSpPr>
          <p:cNvPr id="27" name="Freeform 26"/>
          <p:cNvSpPr/>
          <p:nvPr/>
        </p:nvSpPr>
        <p:spPr>
          <a:xfrm>
            <a:off x="1757855" y="4837175"/>
            <a:ext cx="4805329" cy="1536192"/>
          </a:xfrm>
          <a:custGeom>
            <a:avLst/>
            <a:gdLst/>
            <a:ahLst/>
            <a:cxnLst/>
            <a:rect l="l" t="t" r="r" b="b"/>
            <a:pathLst>
              <a:path w="4805329" h="1536192">
                <a:moveTo>
                  <a:pt x="0" y="0"/>
                </a:moveTo>
                <a:lnTo>
                  <a:pt x="4805329" y="0"/>
                </a:lnTo>
                <a:lnTo>
                  <a:pt x="4231465" y="1536192"/>
                </a:lnTo>
                <a:lnTo>
                  <a:pt x="573864" y="1536192"/>
                </a:lnTo>
                <a:close/>
              </a:path>
            </a:pathLst>
          </a:custGeom>
          <a:solidFill>
            <a:srgbClr val="3D6F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1720" y="5157215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Helvetica Neue"/>
                <a:ea typeface="PingFang SC"/>
              </a:rPr>
              <a:t>企业 AI 平台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614415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DCE6FF"/>
                </a:solidFill>
                <a:latin typeface="Helvetica Neue"/>
                <a:ea typeface="PingFang SC"/>
              </a:rPr>
              <a:t>代码知识库 · 智能体编排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DCE6FF"/>
                </a:solidFill>
                <a:latin typeface="Helvetica Neue"/>
                <a:ea typeface="PingFang SC"/>
              </a:rPr>
              <a:t>自动检查 · 人工验收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37575" y="1965960"/>
            <a:ext cx="0" cy="3291840"/>
          </a:xfrm>
          <a:prstGeom prst="line">
            <a:avLst/>
          </a:prstGeom>
          <a:ln w="19050">
            <a:solidFill>
              <a:srgbClr val="2C3B57"/>
            </a:solidFill>
          </a:ln>
        </p:spPr>
      </p:cxnSp>
      <p:sp>
        <p:nvSpPr>
          <p:cNvPr id="31" name="Oval 30"/>
          <p:cNvSpPr/>
          <p:nvPr/>
        </p:nvSpPr>
        <p:spPr>
          <a:xfrm>
            <a:off x="7955279" y="1874519"/>
            <a:ext cx="164592" cy="164592"/>
          </a:xfrm>
          <a:prstGeom prst="ellipse">
            <a:avLst/>
          </a:prstGeom>
          <a:solidFill>
            <a:srgbClr val="7FA6FF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78308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现在  </a:t>
            </a: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平台和两个 harness 已经能用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167128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企业 AI 平台：代码知识库、智能体编排、自动检查、人工验收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运维：Java 缺陷修复，在 40 个开源 issue 上实测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重构：.NET 改写 Java，在 RealWorld 上实测</a:t>
            </a:r>
          </a:p>
        </p:txBody>
      </p:sp>
      <p:sp>
        <p:nvSpPr>
          <p:cNvPr id="34" name="Oval 33"/>
          <p:cNvSpPr/>
          <p:nvPr/>
        </p:nvSpPr>
        <p:spPr>
          <a:xfrm>
            <a:off x="7955279" y="3749039"/>
            <a:ext cx="164592" cy="164592"/>
          </a:xfrm>
          <a:prstGeom prst="ellipse">
            <a:avLst/>
          </a:prstGeom>
          <a:solidFill>
            <a:srgbClr val="4F6FB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6576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下一步  </a:t>
            </a: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把已有的两个 harness 做扎实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4041648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运维补上 .NET、Go、Python 代码修改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重构补跑接口测试，实测框架迁移和依赖升级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在一个客户项目上试点，拿到提效基线</a:t>
            </a:r>
          </a:p>
        </p:txBody>
      </p:sp>
      <p:sp>
        <p:nvSpPr>
          <p:cNvPr id="37" name="Oval 36"/>
          <p:cNvSpPr/>
          <p:nvPr/>
        </p:nvSpPr>
        <p:spPr>
          <a:xfrm>
            <a:off x="7955279" y="5166359"/>
            <a:ext cx="164592" cy="164592"/>
          </a:xfrm>
          <a:prstGeom prst="ellipse">
            <a:avLst/>
          </a:prstGeom>
          <a:solidFill>
            <a:srgbClr val="3A4A66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507492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之后  </a:t>
            </a:r>
            <a:r>
              <a:rPr sz="1100" b="0">
                <a:solidFill>
                  <a:srgbClr val="B7C2D6"/>
                </a:solidFill>
                <a:latin typeface="Helvetica Neue"/>
                <a:ea typeface="PingFang SC"/>
              </a:rPr>
              <a:t>在同一个平台上长出新的 harness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5458968"/>
            <a:ext cx="3337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接口适配：新旧系统对接、协议转换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FB0CC"/>
                </a:solidFill>
                <a:latin typeface="Helvetica Neue"/>
                <a:ea typeface="PingFang SC"/>
              </a:rPr>
              <a:t>· 资源维护：环境配置、服务巡检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20</a:t>
            </a:r>
          </a:p>
        </p:txBody>
      </p:sp>
      <p:pic>
        <p:nvPicPr>
          <p:cNvPr id="41" name="Picture 40" descr="logo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1414"/>
                </a:solidFill>
                <a:latin typeface="Helvetica Neue"/>
                <a:ea typeface="PingFang SC"/>
              </a:rPr>
              <a:t>Webuddy 商业化策略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2606040" y="1783080"/>
            <a:ext cx="2935224" cy="45720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88920" y="1783080"/>
            <a:ext cx="26609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Helvetica Neue"/>
                <a:ea typeface="PingFang SC"/>
              </a:rPr>
              <a:t>第 1 步  </a:t>
            </a: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自营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2704" y="1783080"/>
            <a:ext cx="2935224" cy="457200"/>
          </a:xfrm>
          <a:prstGeom prst="rect">
            <a:avLst/>
          </a:prstGeom>
          <a:solidFill>
            <a:srgbClr val="6F8FD6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15584" y="1783080"/>
            <a:ext cx="26609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Helvetica Neue"/>
                <a:ea typeface="PingFang SC"/>
              </a:rPr>
              <a:t>第 2 步  </a:t>
            </a:r>
            <a:r>
              <a:rPr sz="1500" b="1">
                <a:solidFill>
                  <a:srgbClr val="FFFFFF"/>
                </a:solidFill>
                <a:latin typeface="Helvetica Neue"/>
                <a:ea typeface="PingFang SC"/>
              </a:rPr>
              <a:t>授权</a:t>
            </a:r>
          </a:p>
        </p:txBody>
      </p:sp>
      <p:sp>
        <p:nvSpPr>
          <p:cNvPr id="7" name="Rectangle 6"/>
          <p:cNvSpPr/>
          <p:nvPr/>
        </p:nvSpPr>
        <p:spPr>
          <a:xfrm>
            <a:off x="8659368" y="1783080"/>
            <a:ext cx="2935224" cy="457200"/>
          </a:xfrm>
          <a:prstGeom prst="rect">
            <a:avLst/>
          </a:prstGeom>
          <a:solidFill>
            <a:srgbClr val="C9D6F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42248" y="1783080"/>
            <a:ext cx="26609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Helvetica Neue"/>
                <a:ea typeface="PingFang SC"/>
              </a:rPr>
              <a:t>第 3 步  </a:t>
            </a: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0008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卖给谁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350008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自有老系统、需要维保的政企甲方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5584" y="2350008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其他维保乙方、区域集成商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42248" y="2350008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老系统多的大型甲方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099815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3099815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怎么交付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099815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我们做维保乙方，平台装在客户内网，由我们运营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5584" y="3099815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授权他们用平台，规则库更新仍由我们出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3099815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企业 AI 平台进入信创目录，直接销售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849624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3849624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收什么钱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849624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年度维保费、重构包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5584" y="3849624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授权年费、规则库更新订阅、AI 点数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2248" y="3849624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平台授权，更多 harness 按模块收费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599432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48640" y="4599432"/>
            <a:ext cx="182880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6B6B6B"/>
                </a:solidFill>
                <a:latin typeface="Helvetica Neue"/>
                <a:ea typeface="PingFang SC"/>
              </a:rPr>
              <a:t>进入下一步的标志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599432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三到五个标杆项目和提效报告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15584" y="4599432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经验库能脱离我们自己的团队规模增长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4599432"/>
            <a:ext cx="261518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41414"/>
                </a:solidFill>
                <a:latin typeface="Helvetica Neue"/>
                <a:ea typeface="PingFang SC"/>
              </a:rPr>
              <a:t>—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349240"/>
            <a:ext cx="11091672" cy="0"/>
          </a:xfrm>
          <a:prstGeom prst="line">
            <a:avLst/>
          </a:prstGeom>
          <a:ln w="9525">
            <a:solidFill>
              <a:srgbClr val="D6D5CF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门槛  </a:t>
            </a: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交付中攒下的规则、评测集和教训；客户那边越用越准的知识库；信创互认和软著；标杆案例和提效报告。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400800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21</a:t>
            </a:r>
          </a:p>
        </p:txBody>
      </p:sp>
      <p:pic>
        <p:nvPicPr>
          <p:cNvPr id="31" name="Picture 3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37376"/>
            <a:ext cx="936711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