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已有</c:v>
                </c:pt>
              </c:strCache>
            </c:strRef>
          </c:tx>
          <c:spPr>
            <a:solidFill>
              <a:srgbClr val="1F4AA8"/>
            </a:solidFill>
            <a:ln w="12700">
              <a:solidFill>
                <a:srgbClr val="FFFFFF"/>
              </a:solidFill>
            </a:ln>
          </c:spPr>
          <c:cat>
            <c:strRef>
              <c:f>Sheet1!$A$2:$A$8</c:f>
              <c:strCache>
                <c:ptCount val="7"/>
                <c:pt idx="0">
                  <c:v>需求接入与现场答复</c:v>
                </c:pt>
                <c:pt idx="1">
                  <c:v>日常需求与功能维护</c:v>
                </c:pt>
                <c:pt idx="2">
                  <c:v>线上问题与数据运维</c:v>
                </c:pt>
                <c:pt idx="3">
                  <c:v>重写与技术升级</c:v>
                </c:pt>
                <c:pt idx="4">
                  <c:v>项目知识与交接</c:v>
                </c:pt>
                <c:pt idx="5">
                  <c:v>人机接口</c:v>
                </c:pt>
                <c:pt idx="6">
                  <c:v>度量与管理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0</c:v>
                </c:pt>
                <c:pt idx="3">
                  <c:v>2</c:v>
                </c:pt>
                <c:pt idx="4">
                  <c:v>3</c:v>
                </c:pt>
                <c:pt idx="5">
                  <c:v>6</c:v>
                </c:pt>
                <c:pt idx="6">
                  <c:v>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部分</c:v>
                </c:pt>
              </c:strCache>
            </c:strRef>
          </c:tx>
          <c:spPr>
            <a:solidFill>
              <a:srgbClr val="8EA6DA"/>
            </a:solidFill>
            <a:ln w="12700">
              <a:solidFill>
                <a:srgbClr val="FFFFFF"/>
              </a:solidFill>
            </a:ln>
          </c:spPr>
          <c:cat>
            <c:strRef>
              <c:f>Sheet1!$A$2:$A$8</c:f>
              <c:strCache>
                <c:ptCount val="7"/>
                <c:pt idx="0">
                  <c:v>需求接入与现场答复</c:v>
                </c:pt>
                <c:pt idx="1">
                  <c:v>日常需求与功能维护</c:v>
                </c:pt>
                <c:pt idx="2">
                  <c:v>线上问题与数据运维</c:v>
                </c:pt>
                <c:pt idx="3">
                  <c:v>重写与技术升级</c:v>
                </c:pt>
                <c:pt idx="4">
                  <c:v>项目知识与交接</c:v>
                </c:pt>
                <c:pt idx="5">
                  <c:v>人机接口</c:v>
                </c:pt>
                <c:pt idx="6">
                  <c:v>度量与管理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2</c:v>
                </c:pt>
                <c:pt idx="5">
                  <c:v>1</c:v>
                </c:pt>
                <c:pt idx="6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缺</c:v>
                </c:pt>
              </c:strCache>
            </c:strRef>
          </c:tx>
          <c:spPr>
            <a:solidFill>
              <a:srgbClr val="D9622B"/>
            </a:solidFill>
            <a:ln w="12700">
              <a:solidFill>
                <a:srgbClr val="FFFFFF"/>
              </a:solidFill>
            </a:ln>
          </c:spPr>
          <c:cat>
            <c:strRef>
              <c:f>Sheet1!$A$2:$A$8</c:f>
              <c:strCache>
                <c:ptCount val="7"/>
                <c:pt idx="0">
                  <c:v>需求接入与现场答复</c:v>
                </c:pt>
                <c:pt idx="1">
                  <c:v>日常需求与功能维护</c:v>
                </c:pt>
                <c:pt idx="2">
                  <c:v>线上问题与数据运维</c:v>
                </c:pt>
                <c:pt idx="3">
                  <c:v>重写与技术升级</c:v>
                </c:pt>
                <c:pt idx="4">
                  <c:v>项目知识与交接</c:v>
                </c:pt>
                <c:pt idx="5">
                  <c:v>人机接口</c:v>
                </c:pt>
                <c:pt idx="6">
                  <c:v>度量与管理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</c:v>
                </c:pt>
                <c:pt idx="1">
                  <c:v>4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 b="1">
                  <a:solidFill>
                    <a:srgbClr val="FFFFFF"/>
                  </a:solidFill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6D5CF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000">
          <a:latin typeface="Helvetica Neu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能追到数据库表的业务流占比</c:v>
                </c:pt>
              </c:strCache>
            </c:strRef>
          </c:tx>
          <c:spPr>
            <a:solidFill>
              <a:srgbClr val="1F4AA8"/>
            </a:solidFill>
          </c:spPr>
          <c:dPt>
            <c:idx val="0"/>
            <c:spPr>
              <a:solidFill>
                <a:srgbClr val="A0A0A0"/>
              </a:solidFill>
            </c:spPr>
          </c:dPt>
          <c:cat>
            <c:strRef>
              <c:f>Sheet1!$A$2:$A$3</c:f>
              <c:strCache>
                <c:ptCount val="2"/>
                <c:pt idx="0">
                  <c:v>改进前</c:v>
                </c:pt>
                <c:pt idx="1">
                  <c:v>改进后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0.069</c:v>
                </c:pt>
                <c:pt idx="1">
                  <c:v>0.69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3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9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6D5CF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000">
          <a:latin typeface="Helvetica Neu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已写（待确认）</c:v>
                </c:pt>
              </c:strCache>
            </c:strRef>
          </c:tx>
          <c:spPr>
            <a:solidFill>
              <a:srgbClr val="1F4AA8"/>
            </a:solidFill>
          </c:spPr>
          <c:cat>
            <c:strRef>
              <c:f>Sheet1!$A$2:$A$6</c:f>
              <c:strCache>
                <c:ptCount val="5"/>
                <c:pt idx="0">
                  <c:v>业务域  114 / 114</c:v>
                </c:pt>
                <c:pt idx="1">
                  <c:v>系统总览  1 / 1</c:v>
                </c:pt>
                <c:pt idx="2">
                  <c:v>业务流  17 / 1,208</c:v>
                </c:pt>
                <c:pt idx="3">
                  <c:v>业务对象  0 / 347</c:v>
                </c:pt>
                <c:pt idx="4">
                  <c:v>模块  0 / 1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114</c:v>
                </c:pt>
                <c:pt idx="1">
                  <c:v>1</c:v>
                </c:pt>
                <c:pt idx="2">
                  <c:v>17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未分析</c:v>
                </c:pt>
              </c:strCache>
            </c:strRef>
          </c:tx>
          <c:spPr>
            <a:solidFill>
              <a:srgbClr val="E4E3DE"/>
            </a:solidFill>
          </c:spPr>
          <c:cat>
            <c:strRef>
              <c:f>Sheet1!$A$2:$A$6</c:f>
              <c:strCache>
                <c:ptCount val="5"/>
                <c:pt idx="0">
                  <c:v>业务域  114 / 114</c:v>
                </c:pt>
                <c:pt idx="1">
                  <c:v>系统总览  1 / 1</c:v>
                </c:pt>
                <c:pt idx="2">
                  <c:v>业务流  17 / 1,208</c:v>
                </c:pt>
                <c:pt idx="3">
                  <c:v>业务对象  0 / 347</c:v>
                </c:pt>
                <c:pt idx="4">
                  <c:v>模块  0 / 1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1191</c:v>
                </c:pt>
                <c:pt idx="3">
                  <c:v>347</c:v>
                </c:pt>
                <c:pt idx="4">
                  <c:v>1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6D5C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t"/>
      <c:overlay val="0"/>
    </c:legend>
    <c:dispBlanksAs val="gap"/>
  </c:chart>
  <c:txPr>
    <a:bodyPr/>
    <a:lstStyle/>
    <a:p>
      <a:pPr>
        <a:defRPr sz="1000">
          <a:latin typeface="Helvetica Neue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417320"/>
            <a:ext cx="73152" cy="19202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3258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141414"/>
                </a:solidFill>
                <a:latin typeface="Helvetica Neue"/>
                <a:ea typeface="PingFang SC"/>
              </a:rPr>
              <a:t>老项目运维提效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6060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2B2B2B"/>
                </a:solidFill>
                <a:latin typeface="Helvetica Neue"/>
                <a:ea typeface="PingFang SC"/>
              </a:rPr>
              <a:t>以业务知识库为底座的老项目维保平台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977639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  <a:ea typeface="PingFang SC"/>
              </a:rPr>
              <a:t>Li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6B6B6B"/>
                </a:solidFill>
                <a:latin typeface="Helvetica Neue"/>
                <a:ea typeface="PingFang SC"/>
              </a:rPr>
              <a:t>2026 年 10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维保的瓶颈是“读懂”老系统；先把业务知识沉淀下来，AI 才能在老项目里提效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60350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老项目交付之后，维保的成本主要花在找人问、读代码和不敢改上，而不是写代码本身。现有的编程助手擅长写新代码，却不了解客户的业务。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我们把维保工作拆成 7 个方向、22 个场景、48 个功能模块，并据此搭建一个维保平台：用静态分析加人工确认，把老项目沉淀成按业务流组织的知识库，再交给人和现有的编程助手使用，提效从流程里自动计量。</a:t>
            </a:r>
          </a:p>
          <a:p>
            <a:pPr algn="l">
              <a:lnSpc>
                <a:spcPct val="135000"/>
              </a:lnSpc>
              <a:spcAft>
                <a:spcPts val="900"/>
              </a:spcAft>
            </a:pPr>
            <a:r>
              <a:rPr sz="1250" b="0">
                <a:solidFill>
                  <a:srgbClr val="2B2B2B"/>
                </a:solidFill>
                <a:latin typeface="Helvetica Neue"/>
                <a:ea typeface="PingFang SC"/>
              </a:rPr>
              <a:t>在一个约 55 万行、98% 来自反编译的财务共享平台上，不调用模型即抽出 3,079 条业务流，一句中文需求约 5 秒定位到代码。一期功能已经完成，下一步是真实项目试点。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本稿的三项内容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7830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43800" y="180136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维保工作拆解树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0" y="2093976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按“谁在做”拆到可单独立项的功能模块。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6600" y="2743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761488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以业务知识库为核心的平台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43800" y="3054096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一份知识，多处使用；答不了的转人工，答复写回知识库。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37033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F4AA8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43800" y="3721607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真实老项目上的实测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4014215"/>
            <a:ext cx="40690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已验证的数字，以及尚未验证的部分。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98348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3,079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条业务流，静态抽取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6704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约 5 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6704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一句中文需求定位到代码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23 / 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4768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个模块已实现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512064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F4AA8"/>
                </a:solidFill>
                <a:latin typeface="Helvetica Neue"/>
                <a:ea typeface="PingFang SC"/>
              </a:rPr>
              <a:t>一期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5669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已完成，待试点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维保的成本在“读懂”和“被打断”，不在“改”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600200"/>
            <a:ext cx="2560320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58%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开发时间花在理解代码上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78 名开发、3,148 工时的现场观测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[1]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346704" y="1600200"/>
            <a:ext cx="2560320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346704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47%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的开发每天至少花 30 分钟回答别人的问题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75% 重复回答过同一个问题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[2]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144768" y="1600200"/>
            <a:ext cx="2560320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144768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23 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被打断后回到原任务的平均时间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44768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需求人员每问一次开发，都有这笔代价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[3]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42832" y="1600200"/>
            <a:ext cx="2560319" cy="0"/>
          </a:xfrm>
          <a:prstGeom prst="line">
            <a:avLst/>
          </a:prstGeom>
          <a:ln w="12700">
            <a:solidFill>
              <a:srgbClr val="141414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8942832" y="1737360"/>
            <a:ext cx="2651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F4AA8"/>
                </a:solidFill>
                <a:latin typeface="Helvetica Neue"/>
                <a:ea typeface="PingFang SC"/>
              </a:rPr>
              <a:t>65%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42832" y="2514600"/>
            <a:ext cx="2514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141414"/>
                </a:solidFill>
                <a:latin typeface="Helvetica Neue"/>
                <a:ea typeface="PingFang SC"/>
              </a:rPr>
              <a:t>的热门开源项目走掉 1 到 2 个人就陷入危机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42832" y="324612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知识集中在少数人身上 </a:t>
            </a:r>
            <a:r>
              <a:rPr sz="1000" b="0">
                <a:solidFill>
                  <a:srgbClr val="A0A0A0"/>
                </a:solidFill>
                <a:latin typeface="Helvetica Neue"/>
                <a:ea typeface="PingFang SC"/>
              </a:rPr>
              <a:t>[4]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343400"/>
            <a:ext cx="11091672" cy="169164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对维保意味着什么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B2B2B"/>
                </a:solidFill>
                <a:latin typeface="Helvetica Neue"/>
                <a:ea typeface="PingFang SC"/>
              </a:rPr>
              <a:t>老项目的代码老、文档缺、原作者多半不在。每张工单的大部分时间花在“找到该改哪里、搞清楚业务为什么这样”，而需求和实施人员判断“能不能做”也只能去问开发。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50" b="0">
                <a:solidFill>
                  <a:srgbClr val="2B2B2B"/>
                </a:solidFill>
                <a:latin typeface="Helvetica Neue"/>
                <a:ea typeface="PingFang SC"/>
              </a:rPr>
              <a:t>所以提效的抓手不是“写代码更快”，而是让业务知识不再只存在于人脑里。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[1] Xia 等, ICSE 2018   [2] Stack Overflow 开发者调查 2024   [3] Gloria Mark，经 Fast Company   [4] arXiv 1604.06766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一线抱怨集中在“知识只在人脑子里”和“不敢改”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17320"/>
          <a:ext cx="11091672" cy="402336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103120"/>
                <a:gridCol w="7708392"/>
                <a:gridCol w="1280160"/>
              </a:tblGrid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痛点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一线怎么说（转述）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来源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知识只在人脑子里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问报表字段怎么算，经理只说“自己看代码”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交接断档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离职同事一次交接 11 个项目，无文档无注释，最后一周才安排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不敢改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花两周修好的金额精度 bug，被 AI 重构“简化”回去，单测全过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承诺先于评估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售前很难判断方案能不能落地，只能去问技术，否则容易乱报价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交付后边界模糊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客户借“维护”提新功能，还要 7×24 随叫随到，年费又低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线上定位慢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开发没有生产日志和库权限，只能请人导数据回测试环境调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重写失控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亲历的推倒重来没有一次成功，渐进迁移又要新旧双改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信创踩坑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达梦大小写敏感只能安装时定；同一函数 Oracle 30 秒、达梦 3 小时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V2EX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AI 带来的新问题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AI 写的代码连作者都讲不清，同事来问只能再转给 AI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linux.do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复制粘贴式交付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每个客户复制一份源码，修复不会同步到其他客户的分叉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博客园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57784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1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从 36 条公开的一线讨论中每类选一条，为定性证据。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没有项目知识时，AI 在老代码上未必提效；先沉淀知识再喂给智能体，才有收益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两组公开结果放在一起看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1783080"/>
            <a:ext cx="5303520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7" name="TextBox 6"/>
          <p:cNvSpPr txBox="1"/>
          <p:nvPr/>
        </p:nvSpPr>
        <p:spPr>
          <a:xfrm>
            <a:off x="548640" y="1892807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A0A0A0"/>
                </a:solidFill>
                <a:latin typeface="Helvetica Neue"/>
                <a:ea typeface="PingFang SC"/>
              </a:rPr>
              <a:t>−19%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2024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资深开发在熟悉的大型老项目上用 AI，反而变慢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560320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METR 2025 [5]。2026 年更新改测为变快约 18%，但 METR 自己称结果不可靠 [6]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3246120"/>
            <a:ext cx="5303520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3355848"/>
            <a:ext cx="1463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F4AA8"/>
                </a:solidFill>
                <a:latin typeface="Helvetica Neue"/>
                <a:ea typeface="PingFang SC"/>
              </a:rPr>
              <a:t>−40%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383279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Meta 给模块预生成上下文文件后，智能体的工具调用和 token 都减少约 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4023359"/>
            <a:ext cx="38404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Meta 工程博客 2026-04 [7]，6 个任务的初步测试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4709160"/>
            <a:ext cx="5303520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492240" y="14630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AI 本身也在制造新的维保问题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83080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代码不出内网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1783080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内网里只有一年前的国产模型，并发一高就卡，智能体工具也装不上。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350008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AI 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350008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高强度用 AI 写代码后，作者自己也讲不清实现。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16936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政策反转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2916936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上个月号召学 AI，这周要求卸载所有境外 AI 工具。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83864"/>
            <a:ext cx="1325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测试被撤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3483864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推 AI 编码后测试岗被撤，评审的人看不懂 AI 的方案。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091672" cy="118872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10912"/>
            <a:ext cx="10698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1">
                <a:solidFill>
                  <a:srgbClr val="1F4AA8"/>
                </a:solidFill>
                <a:latin typeface="Helvetica Neue"/>
                <a:ea typeface="PingFang SC"/>
              </a:rPr>
              <a:t>工作假设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在老项目上，AI 提效的前提是业务层上下文。</a:t>
            </a:r>
            <a:r>
              <a:rPr sz="1150" b="0">
                <a:solidFill>
                  <a:srgbClr val="2B2B2B"/>
                </a:solidFill>
                <a:latin typeface="Helvetica Neue"/>
                <a:ea typeface="PingFang SC"/>
              </a:rPr>
              <a:t>模型越弱，上下文的价值越大；与模型无关的知识库也不受工具和政策变化的影响。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[5] METR 2025-07   [6] METR 2026-02 uplift update   [7] Meta Engineering, 2026-04-06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相关工作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现有产品解决“同一种改动跨上千仓库”，我们解决“一个老项目里每天不同的工单”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1463040"/>
            <a:ext cx="6400800" cy="4343400"/>
          </a:xfrm>
          <a:prstGeom prst="rect">
            <a:avLst/>
          </a:prstGeom>
          <a:noFill/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572000" y="1463040"/>
            <a:ext cx="0" cy="4343400"/>
          </a:xfrm>
          <a:prstGeom prst="line">
            <a:avLst/>
          </a:prstGeom>
          <a:ln w="6350">
            <a:solidFill>
              <a:srgbClr val="D6D5CF"/>
            </a:solidFill>
            <a:prstDash val="dash"/>
          </a:ln>
        </p:spPr>
      </p:cxnSp>
      <p:cxnSp>
        <p:nvCxnSpPr>
          <p:cNvPr id="7" name="Connector 6"/>
          <p:cNvCxnSpPr/>
          <p:nvPr/>
        </p:nvCxnSpPr>
        <p:spPr>
          <a:xfrm>
            <a:off x="1371600" y="3634740"/>
            <a:ext cx="6400800" cy="0"/>
          </a:xfrm>
          <a:prstGeom prst="line">
            <a:avLst/>
          </a:prstGeom>
          <a:ln w="6350">
            <a:solidFill>
              <a:srgbClr val="D6D5CF"/>
            </a:solidFill>
            <a:prstDash val="dash"/>
          </a:ln>
        </p:spPr>
      </p:cxnSp>
      <p:sp>
        <p:nvSpPr>
          <p:cNvPr id="8" name="TextBox 7"/>
          <p:cNvSpPr txBox="1"/>
          <p:nvPr/>
        </p:nvSpPr>
        <p:spPr>
          <a:xfrm>
            <a:off x="1371600" y="587959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知识的层次   语法与代码引用  →  架构与质量  →  业务流程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一个项目</a:t>
            </a:r>
          </a:p>
          <a:p>
            <a:pPr algn="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每日不同工单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3492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同一种改动</a:t>
            </a:r>
          </a:p>
          <a:p>
            <a:pPr algn="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跨上千仓库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49758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处理的单位</a:t>
            </a:r>
          </a:p>
        </p:txBody>
      </p:sp>
      <p:sp>
        <p:nvSpPr>
          <p:cNvPr id="12" name="Oval 11"/>
          <p:cNvSpPr/>
          <p:nvPr/>
        </p:nvSpPr>
        <p:spPr>
          <a:xfrm>
            <a:off x="2075688" y="5221223"/>
            <a:ext cx="128016" cy="128016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9424" y="5129783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Moderne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9424" y="5321807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LST + 1 万多条确定性配方</a:t>
            </a:r>
          </a:p>
        </p:txBody>
      </p:sp>
      <p:sp>
        <p:nvSpPr>
          <p:cNvPr id="15" name="Oval 14"/>
          <p:cNvSpPr/>
          <p:nvPr/>
        </p:nvSpPr>
        <p:spPr>
          <a:xfrm>
            <a:off x="2907792" y="4873752"/>
            <a:ext cx="128016" cy="128016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478231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Sourcegraph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497433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代码搜索 + 跨仓批量变更</a:t>
            </a:r>
          </a:p>
        </p:txBody>
      </p:sp>
      <p:sp>
        <p:nvSpPr>
          <p:cNvPr id="18" name="Oval 17"/>
          <p:cNvSpPr/>
          <p:nvPr/>
        </p:nvSpPr>
        <p:spPr>
          <a:xfrm>
            <a:off x="1947672" y="4439412"/>
            <a:ext cx="128016" cy="128016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21408" y="434797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Codemod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21408" y="4539996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框架升级，JS/TS 为主</a:t>
            </a:r>
          </a:p>
        </p:txBody>
      </p:sp>
      <p:sp>
        <p:nvSpPr>
          <p:cNvPr id="21" name="Oval 20"/>
          <p:cNvSpPr/>
          <p:nvPr/>
        </p:nvSpPr>
        <p:spPr>
          <a:xfrm>
            <a:off x="4315968" y="3223260"/>
            <a:ext cx="128016" cy="128016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9704" y="313182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CodeScene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9704" y="332384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代码健康度 + Git 行为</a:t>
            </a:r>
          </a:p>
        </p:txBody>
      </p:sp>
      <p:sp>
        <p:nvSpPr>
          <p:cNvPr id="24" name="Oval 23"/>
          <p:cNvSpPr/>
          <p:nvPr/>
        </p:nvSpPr>
        <p:spPr>
          <a:xfrm>
            <a:off x="5276088" y="3657600"/>
            <a:ext cx="128016" cy="128016"/>
          </a:xfrm>
          <a:prstGeom prst="ellipse">
            <a:avLst/>
          </a:prstGeom>
          <a:solidFill>
            <a:srgbClr val="2B2B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9824" y="3566160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vFunction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49824" y="3758184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运行时分析拆单体</a:t>
            </a:r>
          </a:p>
        </p:txBody>
      </p:sp>
      <p:sp>
        <p:nvSpPr>
          <p:cNvPr id="27" name="Oval 26"/>
          <p:cNvSpPr/>
          <p:nvPr/>
        </p:nvSpPr>
        <p:spPr>
          <a:xfrm>
            <a:off x="2715768" y="2528316"/>
            <a:ext cx="128016" cy="128016"/>
          </a:xfrm>
          <a:prstGeom prst="ellipse">
            <a:avLst/>
          </a:prstGeom>
          <a:solidFill>
            <a:srgbClr val="A0A0A0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89504" y="2436876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通用编程助手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9504" y="2628900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Claude Code · Codex · Cursor</a:t>
            </a:r>
          </a:p>
        </p:txBody>
      </p:sp>
      <p:sp>
        <p:nvSpPr>
          <p:cNvPr id="30" name="Oval 29"/>
          <p:cNvSpPr/>
          <p:nvPr/>
        </p:nvSpPr>
        <p:spPr>
          <a:xfrm>
            <a:off x="6775703" y="1927098"/>
            <a:ext cx="201168" cy="201168"/>
          </a:xfrm>
          <a:prstGeom prst="ellipse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38927" y="2164842"/>
            <a:ext cx="2377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本项目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2393442"/>
            <a:ext cx="3017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业务知识库 + 流程台账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1463040"/>
            <a:ext cx="3410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我们的差异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1783080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处理的单位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2029967"/>
            <a:ext cx="34107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一张工单，而不是一次迁移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569464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知识层次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2816352"/>
            <a:ext cx="34107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从代码延伸到业务流和业务域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355848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服务对象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3602736"/>
            <a:ext cx="34107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维保和交付团队、部门负责人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142232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适用场景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4389120"/>
            <a:ext cx="34107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反编译代码、低代码、国产数据库、私有化部署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4928616"/>
            <a:ext cx="34107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和智能体的关系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5175504"/>
            <a:ext cx="3410712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给它们供业务上下文，并记录它们做了什么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6108192"/>
            <a:ext cx="6583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图 1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按各家公开材料定性放置。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[15] Moderne   [16] Sourcegraph   [17] Codemod   [18] CodeScene   [19] vFunction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相关工作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每类痛点都已有成熟做法，空白都在业务层：我们把它们搬到“业务流”这个单位上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3584448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508760"/>
                <a:gridCol w="2377440"/>
                <a:gridCol w="3840480"/>
                <a:gridCol w="3364992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方向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已有做法的成熟度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值得借鉴的做法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我们补的空白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现场答复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方法成熟，自动答复只解决约一半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KCS“答即写条目”[10]；Uber Genie 转人工与反馈 [9]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答“这套老系统能不能做”，而不是“工具怎么用”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日常维护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成熟，大厂有数字；但 12% 的组织完全不做回归 [21]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表征测试录现状；LLM 补测试只收过三道关的 [11]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用业务流影响分析驱动回归和快照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线上运维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中等，准确率 0.4 到 0.77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先用规则收窄范围，再让模型排序 [22]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报错对应到业务流和最近工单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重写升级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最一致：不要推倒重来；七成以上大型机迁出预计达不到预期收益 [8]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绞杀者模式 [23]；影子流量比对 [12]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进度按业务流统计，领导看得懂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项目知识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成熟，工业界领先学术界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预计算上下文文件 [7]；带代码引用的记忆 [14]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从代码层延伸到业务层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接入与度量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结论不一致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速度和返工并列报 [13]；自己做前后对比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内网弱模型靠业务上下文补足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16636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2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按工作方向归纳的已有做法。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605272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可信的自动答复数字只有 Uber Genie 的 48.9% 有帮助率 [9]。</a:t>
            </a:r>
            <a:r>
              <a:rPr sz="1100" b="0">
                <a:solidFill>
                  <a:srgbClr val="2B2B2B"/>
                </a:solidFill>
                <a:latin typeface="Helvetica Neue"/>
                <a:ea typeface="PingFang SC"/>
              </a:rPr>
              <a:t>所以“转人工、答案回流”不是兜底功能，而是一期的核心。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[9] Uber Genie   [10] KCS v6   [11] Meta TestGen-LLM   [12] GitHub Scientist   [13] DORA 2024   [14] GitHub Copilot 记忆   [22] RCACopilot   [23] Fowler   [8] Gartner，经 The Register   [21] Gartner Peer 投票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维保提效是一座金字塔：项目知识是底座</a:t>
            </a:r>
          </a:p>
        </p:txBody>
      </p:sp>
      <p:sp>
        <p:nvSpPr>
          <p:cNvPr id="5" name="Freeform 4"/>
          <p:cNvSpPr/>
          <p:nvPr/>
        </p:nvSpPr>
        <p:spPr>
          <a:xfrm>
            <a:off x="4855556" y="1417320"/>
            <a:ext cx="1901767" cy="1325880"/>
          </a:xfrm>
          <a:custGeom>
            <a:avLst/>
            <a:gdLst/>
            <a:ahLst/>
            <a:cxnLst/>
            <a:rect l="l" t="t" r="r" b="b"/>
            <a:pathLst>
              <a:path w="1901767" h="1325880">
                <a:moveTo>
                  <a:pt x="950884" y="0"/>
                </a:moveTo>
                <a:lnTo>
                  <a:pt x="1901767" y="1325880"/>
                </a:lnTo>
                <a:lnTo>
                  <a:pt x="0" y="132588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4AA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83479" y="1984248"/>
            <a:ext cx="16459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200" b="1">
                <a:solidFill>
                  <a:srgbClr val="1F4AA8"/>
                </a:solidFill>
                <a:latin typeface="Helvetica Neue"/>
                <a:ea typeface="PingFang SC"/>
              </a:rPr>
              <a:t>目标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答得快 · 改得稳</a:t>
            </a:r>
          </a:p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翻新看得见</a:t>
            </a:r>
          </a:p>
        </p:txBody>
      </p:sp>
      <p:sp>
        <p:nvSpPr>
          <p:cNvPr id="7" name="Freeform 6"/>
          <p:cNvSpPr/>
          <p:nvPr/>
        </p:nvSpPr>
        <p:spPr>
          <a:xfrm>
            <a:off x="3937461" y="2788920"/>
            <a:ext cx="1377142" cy="1234440"/>
          </a:xfrm>
          <a:custGeom>
            <a:avLst/>
            <a:gdLst/>
            <a:ahLst/>
            <a:cxnLst/>
            <a:rect l="l" t="t" r="r" b="b"/>
            <a:pathLst>
              <a:path w="1377142" h="1234440">
                <a:moveTo>
                  <a:pt x="885306" y="0"/>
                </a:moveTo>
                <a:lnTo>
                  <a:pt x="1377142" y="0"/>
                </a:lnTo>
                <a:lnTo>
                  <a:pt x="934489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3F2EE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88055" y="315467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现场答复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需求接入</a:t>
            </a:r>
          </a:p>
        </p:txBody>
      </p:sp>
      <p:sp>
        <p:nvSpPr>
          <p:cNvPr id="9" name="Freeform 8"/>
          <p:cNvSpPr/>
          <p:nvPr/>
        </p:nvSpPr>
        <p:spPr>
          <a:xfrm>
            <a:off x="4871950" y="2788920"/>
            <a:ext cx="934490" cy="1234440"/>
          </a:xfrm>
          <a:custGeom>
            <a:avLst/>
            <a:gdLst/>
            <a:ahLst/>
            <a:cxnLst/>
            <a:rect l="l" t="t" r="r" b="b"/>
            <a:pathLst>
              <a:path w="934490" h="1234440">
                <a:moveTo>
                  <a:pt x="442653" y="0"/>
                </a:moveTo>
                <a:lnTo>
                  <a:pt x="934490" y="0"/>
                </a:lnTo>
                <a:lnTo>
                  <a:pt x="93449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3F2EE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01218" y="315467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日常维护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需求与功能</a:t>
            </a:r>
          </a:p>
        </p:txBody>
      </p:sp>
      <p:sp>
        <p:nvSpPr>
          <p:cNvPr id="11" name="Freeform 10"/>
          <p:cNvSpPr/>
          <p:nvPr/>
        </p:nvSpPr>
        <p:spPr>
          <a:xfrm>
            <a:off x="5806440" y="2788920"/>
            <a:ext cx="934489" cy="1234440"/>
          </a:xfrm>
          <a:custGeom>
            <a:avLst/>
            <a:gdLst/>
            <a:ahLst/>
            <a:cxnLst/>
            <a:rect l="l" t="t" r="r" b="b"/>
            <a:pathLst>
              <a:path w="934489" h="1234440">
                <a:moveTo>
                  <a:pt x="0" y="0"/>
                </a:moveTo>
                <a:lnTo>
                  <a:pt x="491836" y="0"/>
                </a:lnTo>
                <a:lnTo>
                  <a:pt x="934489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3F2EE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14381" y="315467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线上运维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问题与数据</a:t>
            </a:r>
          </a:p>
        </p:txBody>
      </p:sp>
      <p:sp>
        <p:nvSpPr>
          <p:cNvPr id="13" name="Freeform 12"/>
          <p:cNvSpPr/>
          <p:nvPr/>
        </p:nvSpPr>
        <p:spPr>
          <a:xfrm>
            <a:off x="6298276" y="2788920"/>
            <a:ext cx="1377142" cy="1234440"/>
          </a:xfrm>
          <a:custGeom>
            <a:avLst/>
            <a:gdLst/>
            <a:ahLst/>
            <a:cxnLst/>
            <a:rect l="l" t="t" r="r" b="b"/>
            <a:pathLst>
              <a:path w="1377142" h="1234440">
                <a:moveTo>
                  <a:pt x="0" y="0"/>
                </a:moveTo>
                <a:lnTo>
                  <a:pt x="491836" y="0"/>
                </a:lnTo>
                <a:lnTo>
                  <a:pt x="1377142" y="1234440"/>
                </a:lnTo>
                <a:lnTo>
                  <a:pt x="442653" y="1234440"/>
                </a:lnTo>
                <a:close/>
              </a:path>
            </a:pathLst>
          </a:custGeom>
          <a:solidFill>
            <a:srgbClr val="F3F2EE"/>
          </a:solidFill>
          <a:ln w="2540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544" y="3154679"/>
            <a:ext cx="10972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100" b="1">
                <a:solidFill>
                  <a:srgbClr val="141414"/>
                </a:solidFill>
                <a:latin typeface="Helvetica Neue"/>
                <a:ea typeface="PingFang SC"/>
              </a:rPr>
              <a:t>重写升级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技术演进</a:t>
            </a:r>
          </a:p>
        </p:txBody>
      </p:sp>
      <p:sp>
        <p:nvSpPr>
          <p:cNvPr id="15" name="Freeform 14"/>
          <p:cNvSpPr/>
          <p:nvPr/>
        </p:nvSpPr>
        <p:spPr>
          <a:xfrm>
            <a:off x="3248890" y="4069080"/>
            <a:ext cx="5115099" cy="914400"/>
          </a:xfrm>
          <a:custGeom>
            <a:avLst/>
            <a:gdLst/>
            <a:ahLst/>
            <a:cxnLst/>
            <a:rect l="l" t="t" r="r" b="b"/>
            <a:pathLst>
              <a:path w="5115099" h="914400">
                <a:moveTo>
                  <a:pt x="655782" y="0"/>
                </a:moveTo>
                <a:lnTo>
                  <a:pt x="4459317" y="0"/>
                </a:lnTo>
                <a:lnTo>
                  <a:pt x="5115099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DCE4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0439" y="420624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141414"/>
                </a:solidFill>
                <a:latin typeface="Helvetica Neue"/>
                <a:ea typeface="PingFang SC"/>
              </a:rPr>
              <a:t>人机接口</a:t>
            </a:r>
          </a:p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平台 · 编程助手 · 群机器人 · 自动流水线 · 内网部署</a:t>
            </a:r>
          </a:p>
        </p:txBody>
      </p:sp>
      <p:sp>
        <p:nvSpPr>
          <p:cNvPr id="17" name="Freeform 16"/>
          <p:cNvSpPr/>
          <p:nvPr/>
        </p:nvSpPr>
        <p:spPr>
          <a:xfrm>
            <a:off x="2560320" y="5029200"/>
            <a:ext cx="6492239" cy="914400"/>
          </a:xfrm>
          <a:custGeom>
            <a:avLst/>
            <a:gdLst/>
            <a:ahLst/>
            <a:cxnLst/>
            <a:rect l="l" t="t" r="r" b="b"/>
            <a:pathLst>
              <a:path w="6492239" h="914400">
                <a:moveTo>
                  <a:pt x="655781" y="0"/>
                </a:moveTo>
                <a:lnTo>
                  <a:pt x="5836458" y="0"/>
                </a:lnTo>
                <a:lnTo>
                  <a:pt x="6492239" y="914400"/>
                </a:lnTo>
                <a:lnTo>
                  <a:pt x="0" y="914400"/>
                </a:lnTo>
                <a:close/>
              </a:path>
            </a:pathLst>
          </a:custGeom>
          <a:solidFill>
            <a:srgbClr val="1F4AA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39" y="5193792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Helvetica Neue"/>
                <a:ea typeface="PingFang SC"/>
              </a:rPr>
              <a:t>项目知识</a:t>
            </a:r>
          </a:p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Helvetica Neue"/>
                <a:ea typeface="PingFang SC"/>
              </a:rPr>
              <a:t>代码 → 业务流 → 业务域；人工确认，随代码自动更新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805939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为什么做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价值与目标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13182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做什么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各角色的日常工作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5196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怎么用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送到人和工具手里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212080"/>
            <a:ext cx="1828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靠什么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可核对的业务知识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372600" y="1691640"/>
            <a:ext cx="0" cy="4251960"/>
          </a:xfrm>
          <a:prstGeom prst="line">
            <a:avLst/>
          </a:prstGeom>
          <a:ln w="15875">
            <a:solidFill>
              <a:srgbClr val="1F4AA8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9509760" y="137160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度量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每一层自动记录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308860"/>
            <a:ext cx="109728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26" name="TextBox 25"/>
          <p:cNvSpPr txBox="1"/>
          <p:nvPr/>
        </p:nvSpPr>
        <p:spPr>
          <a:xfrm>
            <a:off x="9555480" y="208026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答复时长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工单周期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72600" y="3406140"/>
            <a:ext cx="109728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9555480" y="317754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采纳率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退回率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72600" y="4526280"/>
            <a:ext cx="109728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9555480" y="429768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使用次数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AI 参与率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372600" y="5486400"/>
            <a:ext cx="109728" cy="0"/>
          </a:xfrm>
          <a:prstGeom prst="line">
            <a:avLst/>
          </a:prstGeom>
          <a:ln w="12700">
            <a:solidFill>
              <a:srgbClr val="1F4AA8"/>
            </a:solidFill>
          </a:ln>
        </p:spPr>
      </p:cxnSp>
      <p:sp>
        <p:nvSpPr>
          <p:cNvPr id="32" name="TextBox 31"/>
          <p:cNvSpPr txBox="1"/>
          <p:nvPr/>
        </p:nvSpPr>
        <p:spPr>
          <a:xfrm>
            <a:off x="9555480" y="5257800"/>
            <a:ext cx="21031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0">
                <a:solidFill>
                  <a:srgbClr val="2B2B2B"/>
                </a:solidFill>
                <a:latin typeface="Helvetica Neue"/>
                <a:ea typeface="PingFang SC"/>
              </a:rPr>
              <a:t>已确认页数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图 2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上层依赖下层：所有工作场景都从项目知识取答案。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维保工作拆解树：48 个模块中已实现 23 个</a:t>
            </a:r>
          </a:p>
        </p:txBody>
      </p:sp>
      <p:sp>
        <p:nvSpPr>
          <p:cNvPr id="5" name="Rectangle 4"/>
          <p:cNvSpPr/>
          <p:nvPr/>
        </p:nvSpPr>
        <p:spPr>
          <a:xfrm>
            <a:off x="4358487" y="1298448"/>
            <a:ext cx="3474720" cy="347472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Helvetica Neue"/>
                <a:ea typeface="PingFang SC"/>
              </a:rPr>
              <a:t>老项目运维提效</a:t>
            </a:r>
            <a:r>
              <a:rPr sz="850" b="0">
                <a:solidFill>
                  <a:srgbClr val="D8E0F2"/>
                </a:solidFill>
                <a:latin typeface="Helvetica Neue"/>
                <a:ea typeface="PingFang SC"/>
              </a:rPr>
              <a:t>   答得快 · 改得稳 · 翻新看得见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7" y="1645919"/>
            <a:ext cx="0" cy="146305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03938" y="1792224"/>
            <a:ext cx="9783818" cy="0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203938" y="1792224"/>
            <a:ext cx="0" cy="109728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sp>
        <p:nvSpPr>
          <p:cNvPr id="9" name="Rectangle 8"/>
          <p:cNvSpPr/>
          <p:nvPr/>
        </p:nvSpPr>
        <p:spPr>
          <a:xfrm>
            <a:off x="411480" y="1901952"/>
            <a:ext cx="15849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Helvetica Neue"/>
                <a:ea typeface="PingFang SC"/>
              </a:rPr>
              <a:t>需求接入与现场答复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6B6B6B"/>
                </a:solidFill>
                <a:latin typeface="Helvetica Neue"/>
                <a:ea typeface="PingFang SC"/>
              </a:rPr>
              <a:t>需求 · 实施 · 售前 · 驻场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48056" y="2615184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02920" y="2523744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需求受理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1208" y="2798064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566928" y="275234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7066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原话转工单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21208" y="2980944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6" name="Rectangle 15"/>
          <p:cNvSpPr/>
          <p:nvPr/>
        </p:nvSpPr>
        <p:spPr>
          <a:xfrm>
            <a:off x="566928" y="293522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" y="288950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相似工单查重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59236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①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21208" y="3163824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566928" y="3118104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307238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需求变更台账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1208" y="2706624"/>
            <a:ext cx="0" cy="45720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23" name="Connector 22"/>
          <p:cNvCxnSpPr/>
          <p:nvPr/>
        </p:nvCxnSpPr>
        <p:spPr>
          <a:xfrm>
            <a:off x="448056" y="3410712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502920" y="3319272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能不能做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1208" y="359359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566928" y="3547872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" y="350215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可行性自动答复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59236" y="349300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①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21208" y="377647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66928" y="3730752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368503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转人工与答案回流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59236" y="367588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①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21208" y="3502152"/>
            <a:ext cx="0" cy="27432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448056" y="4023360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02920" y="3931920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多久能做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21208" y="420624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37" name="Rectangle 36"/>
          <p:cNvSpPr/>
          <p:nvPr/>
        </p:nvSpPr>
        <p:spPr>
          <a:xfrm>
            <a:off x="566928" y="4160520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4944" y="411480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工作量区间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59236" y="41056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②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21208" y="4114800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448056" y="4453128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502920" y="4361688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算不算维保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21208" y="463600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566928" y="4590288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" y="454456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维保范围判断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21208" y="4544568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47" name="Connector 46"/>
          <p:cNvCxnSpPr/>
          <p:nvPr/>
        </p:nvCxnSpPr>
        <p:spPr>
          <a:xfrm>
            <a:off x="448056" y="4882896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502920" y="4791456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业务答疑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21208" y="5065776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50" name="Rectangle 49"/>
          <p:cNvSpPr/>
          <p:nvPr/>
        </p:nvSpPr>
        <p:spPr>
          <a:xfrm>
            <a:off x="566928" y="5020056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4944" y="4974336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业务答疑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521208" y="4974336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448056" y="2414016"/>
            <a:ext cx="0" cy="246888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2834574" y="1792224"/>
            <a:ext cx="0" cy="109728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sp>
        <p:nvSpPr>
          <p:cNvPr id="55" name="Rectangle 54"/>
          <p:cNvSpPr/>
          <p:nvPr/>
        </p:nvSpPr>
        <p:spPr>
          <a:xfrm>
            <a:off x="2042116" y="1901952"/>
            <a:ext cx="15849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Helvetica Neue"/>
                <a:ea typeface="PingFang SC"/>
              </a:rPr>
              <a:t>日常需求与功能维护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6B6B6B"/>
                </a:solidFill>
                <a:latin typeface="Helvetica Neue"/>
                <a:ea typeface="PingFang SC"/>
              </a:rPr>
              <a:t>维保开发 · 测试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2078692" y="2615184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57" name="TextBox 56"/>
          <p:cNvSpPr txBox="1"/>
          <p:nvPr/>
        </p:nvSpPr>
        <p:spPr>
          <a:xfrm>
            <a:off x="2133556" y="2523744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定位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151844" y="2798064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59" name="Rectangle 58"/>
          <p:cNvSpPr/>
          <p:nvPr/>
        </p:nvSpPr>
        <p:spPr>
          <a:xfrm>
            <a:off x="2197564" y="275234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325580" y="27066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需求定位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2151844" y="2706624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62" name="Connector 61"/>
          <p:cNvCxnSpPr/>
          <p:nvPr/>
        </p:nvCxnSpPr>
        <p:spPr>
          <a:xfrm>
            <a:off x="2078692" y="3044952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63" name="TextBox 62"/>
          <p:cNvSpPr txBox="1"/>
          <p:nvPr/>
        </p:nvSpPr>
        <p:spPr>
          <a:xfrm>
            <a:off x="2133556" y="2953512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方案与影响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2151844" y="322783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65" name="Rectangle 64"/>
          <p:cNvSpPr/>
          <p:nvPr/>
        </p:nvSpPr>
        <p:spPr>
          <a:xfrm>
            <a:off x="2197564" y="3182112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325580" y="313639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影响分析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151844" y="341071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68" name="Rectangle 67"/>
          <p:cNvSpPr/>
          <p:nvPr/>
        </p:nvSpPr>
        <p:spPr>
          <a:xfrm>
            <a:off x="2197564" y="3364992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325580" y="331927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变更方案与契约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151844" y="3136392"/>
            <a:ext cx="0" cy="27432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71" name="Connector 70"/>
          <p:cNvCxnSpPr/>
          <p:nvPr/>
        </p:nvCxnSpPr>
        <p:spPr>
          <a:xfrm>
            <a:off x="2078692" y="3657600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72" name="TextBox 71"/>
          <p:cNvSpPr txBox="1"/>
          <p:nvPr/>
        </p:nvSpPr>
        <p:spPr>
          <a:xfrm>
            <a:off x="2133556" y="3566160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无人化修改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2151844" y="384048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74" name="Rectangle 73"/>
          <p:cNvSpPr/>
          <p:nvPr/>
        </p:nvSpPr>
        <p:spPr>
          <a:xfrm>
            <a:off x="2197564" y="3794760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2325580" y="374904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智能体修改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2151844" y="402336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77" name="Rectangle 76"/>
          <p:cNvSpPr/>
          <p:nvPr/>
        </p:nvSpPr>
        <p:spPr>
          <a:xfrm>
            <a:off x="2197564" y="3977640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25580" y="393192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风险分级与自动触发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89872" y="392277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②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2151844" y="3749040"/>
            <a:ext cx="0" cy="27432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81" name="Connector 80"/>
          <p:cNvCxnSpPr/>
          <p:nvPr/>
        </p:nvCxnSpPr>
        <p:spPr>
          <a:xfrm>
            <a:off x="2078692" y="4270248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82" name="TextBox 81"/>
          <p:cNvSpPr txBox="1"/>
          <p:nvPr/>
        </p:nvSpPr>
        <p:spPr>
          <a:xfrm>
            <a:off x="2133556" y="4178808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回归与验证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2151844" y="445312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84" name="Rectangle 83"/>
          <p:cNvSpPr/>
          <p:nvPr/>
        </p:nvSpPr>
        <p:spPr>
          <a:xfrm>
            <a:off x="2197564" y="4407408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2325580" y="436168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验证闸门</a:t>
            </a:r>
          </a:p>
        </p:txBody>
      </p:sp>
      <p:cxnSp>
        <p:nvCxnSpPr>
          <p:cNvPr id="86" name="Connector 85"/>
          <p:cNvCxnSpPr/>
          <p:nvPr/>
        </p:nvCxnSpPr>
        <p:spPr>
          <a:xfrm>
            <a:off x="2151844" y="463600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87" name="Rectangle 86"/>
          <p:cNvSpPr/>
          <p:nvPr/>
        </p:nvSpPr>
        <p:spPr>
          <a:xfrm>
            <a:off x="2197564" y="4590288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325580" y="454456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回归清单与表征测试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89872" y="453542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②</a:t>
            </a:r>
          </a:p>
        </p:txBody>
      </p:sp>
      <p:cxnSp>
        <p:nvCxnSpPr>
          <p:cNvPr id="90" name="Connector 89"/>
          <p:cNvCxnSpPr/>
          <p:nvPr/>
        </p:nvCxnSpPr>
        <p:spPr>
          <a:xfrm>
            <a:off x="2151844" y="481888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91" name="Rectangle 90"/>
          <p:cNvSpPr/>
          <p:nvPr/>
        </p:nvSpPr>
        <p:spPr>
          <a:xfrm>
            <a:off x="2197564" y="4773168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325580" y="472744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修复原因留痕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89872" y="471830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②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2151844" y="500176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95" name="Rectangle 94"/>
          <p:cNvSpPr/>
          <p:nvPr/>
        </p:nvSpPr>
        <p:spPr>
          <a:xfrm>
            <a:off x="2197564" y="4956048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325580" y="491032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部分代码可运行环境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151844" y="4361688"/>
            <a:ext cx="0" cy="64008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98" name="Connector 97"/>
          <p:cNvCxnSpPr/>
          <p:nvPr/>
        </p:nvCxnSpPr>
        <p:spPr>
          <a:xfrm>
            <a:off x="2078692" y="5248656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99" name="TextBox 98"/>
          <p:cNvSpPr txBox="1"/>
          <p:nvPr/>
        </p:nvSpPr>
        <p:spPr>
          <a:xfrm>
            <a:off x="2133556" y="5157216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验收与上线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151844" y="5431536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01" name="Rectangle 100"/>
          <p:cNvSpPr/>
          <p:nvPr/>
        </p:nvSpPr>
        <p:spPr>
          <a:xfrm>
            <a:off x="2197564" y="5385816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325580" y="5340096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验收说明与变更记录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2151844" y="5614416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04" name="Rectangle 103"/>
          <p:cNvSpPr/>
          <p:nvPr/>
        </p:nvSpPr>
        <p:spPr>
          <a:xfrm>
            <a:off x="2197564" y="5568696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325580" y="5522976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补丁跨客户分支传播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489872" y="551383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②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2151844" y="5340096"/>
            <a:ext cx="0" cy="27432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08" name="Connector 107"/>
          <p:cNvCxnSpPr/>
          <p:nvPr/>
        </p:nvCxnSpPr>
        <p:spPr>
          <a:xfrm>
            <a:off x="2078692" y="2414016"/>
            <a:ext cx="0" cy="28346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09" name="Connector 108"/>
          <p:cNvCxnSpPr/>
          <p:nvPr/>
        </p:nvCxnSpPr>
        <p:spPr>
          <a:xfrm>
            <a:off x="4465211" y="1792224"/>
            <a:ext cx="0" cy="109728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sp>
        <p:nvSpPr>
          <p:cNvPr id="110" name="Rectangle 109"/>
          <p:cNvSpPr/>
          <p:nvPr/>
        </p:nvSpPr>
        <p:spPr>
          <a:xfrm>
            <a:off x="3672752" y="1901952"/>
            <a:ext cx="15849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Helvetica Neue"/>
                <a:ea typeface="PingFang SC"/>
              </a:rPr>
              <a:t>线上问题与数据运维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6B6B6B"/>
                </a:solidFill>
                <a:latin typeface="Helvetica Neue"/>
                <a:ea typeface="PingFang SC"/>
              </a:rPr>
              <a:t>运维 · 值班开发</a:t>
            </a:r>
          </a:p>
        </p:txBody>
      </p:sp>
      <p:cxnSp>
        <p:nvCxnSpPr>
          <p:cNvPr id="111" name="Connector 110"/>
          <p:cNvCxnSpPr/>
          <p:nvPr/>
        </p:nvCxnSpPr>
        <p:spPr>
          <a:xfrm>
            <a:off x="3709328" y="2615184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12" name="TextBox 111"/>
          <p:cNvSpPr txBox="1"/>
          <p:nvPr/>
        </p:nvSpPr>
        <p:spPr>
          <a:xfrm>
            <a:off x="3764192" y="2523744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报错定位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3782480" y="2798064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14" name="Rectangle 113"/>
          <p:cNvSpPr/>
          <p:nvPr/>
        </p:nvSpPr>
        <p:spPr>
          <a:xfrm>
            <a:off x="3828200" y="2752344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956216" y="27066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报错到业务流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3782480" y="2706624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17" name="Connector 116"/>
          <p:cNvCxnSpPr/>
          <p:nvPr/>
        </p:nvCxnSpPr>
        <p:spPr>
          <a:xfrm>
            <a:off x="3709328" y="3044952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18" name="TextBox 117"/>
          <p:cNvSpPr txBox="1"/>
          <p:nvPr/>
        </p:nvSpPr>
        <p:spPr>
          <a:xfrm>
            <a:off x="3764192" y="2953512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数据修复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3782480" y="322783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20" name="Rectangle 119"/>
          <p:cNvSpPr/>
          <p:nvPr/>
        </p:nvSpPr>
        <p:spPr>
          <a:xfrm>
            <a:off x="3828200" y="3182112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956216" y="313639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数据修复脚本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3782480" y="3136392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23" name="Connector 122"/>
          <p:cNvCxnSpPr/>
          <p:nvPr/>
        </p:nvCxnSpPr>
        <p:spPr>
          <a:xfrm>
            <a:off x="3709328" y="3474720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24" name="TextBox 123"/>
          <p:cNvSpPr txBox="1"/>
          <p:nvPr/>
        </p:nvSpPr>
        <p:spPr>
          <a:xfrm>
            <a:off x="3764192" y="3383280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巡检</a:t>
            </a:r>
          </a:p>
        </p:txBody>
      </p:sp>
      <p:cxnSp>
        <p:nvCxnSpPr>
          <p:cNvPr id="125" name="Connector 124"/>
          <p:cNvCxnSpPr/>
          <p:nvPr/>
        </p:nvCxnSpPr>
        <p:spPr>
          <a:xfrm>
            <a:off x="3782480" y="365760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26" name="Rectangle 125"/>
          <p:cNvSpPr/>
          <p:nvPr/>
        </p:nvSpPr>
        <p:spPr>
          <a:xfrm>
            <a:off x="3828200" y="3611880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3956216" y="356616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定时任务与接口巡检</a:t>
            </a:r>
          </a:p>
        </p:txBody>
      </p:sp>
      <p:cxnSp>
        <p:nvCxnSpPr>
          <p:cNvPr id="128" name="Connector 127"/>
          <p:cNvCxnSpPr/>
          <p:nvPr/>
        </p:nvCxnSpPr>
        <p:spPr>
          <a:xfrm>
            <a:off x="3782480" y="3566160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29" name="Connector 128"/>
          <p:cNvCxnSpPr/>
          <p:nvPr/>
        </p:nvCxnSpPr>
        <p:spPr>
          <a:xfrm>
            <a:off x="3709328" y="2414016"/>
            <a:ext cx="0" cy="1060704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30" name="Connector 129"/>
          <p:cNvCxnSpPr/>
          <p:nvPr/>
        </p:nvCxnSpPr>
        <p:spPr>
          <a:xfrm>
            <a:off x="6095847" y="1792224"/>
            <a:ext cx="0" cy="109728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sp>
        <p:nvSpPr>
          <p:cNvPr id="131" name="Rectangle 130"/>
          <p:cNvSpPr/>
          <p:nvPr/>
        </p:nvSpPr>
        <p:spPr>
          <a:xfrm>
            <a:off x="5303389" y="1901952"/>
            <a:ext cx="15849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41414"/>
                </a:solidFill>
                <a:latin typeface="Helvetica Neue"/>
                <a:ea typeface="PingFang SC"/>
              </a:rPr>
              <a:t>重写与技术升级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6B6B6B"/>
                </a:solidFill>
                <a:latin typeface="Helvetica Neue"/>
                <a:ea typeface="PingFang SC"/>
              </a:rPr>
              <a:t>技术负责人 · 架构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5339965" y="2615184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33" name="TextBox 132"/>
          <p:cNvSpPr txBox="1"/>
          <p:nvPr/>
        </p:nvSpPr>
        <p:spPr>
          <a:xfrm>
            <a:off x="5394829" y="2523744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现状体检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5413117" y="2798064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35" name="Rectangle 134"/>
          <p:cNvSpPr/>
          <p:nvPr/>
        </p:nvSpPr>
        <p:spPr>
          <a:xfrm>
            <a:off x="5458837" y="275234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586853" y="27066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项目体检报告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5413117" y="2706624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38" name="Connector 137"/>
          <p:cNvCxnSpPr/>
          <p:nvPr/>
        </p:nvCxnSpPr>
        <p:spPr>
          <a:xfrm>
            <a:off x="5339965" y="3044952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39" name="TextBox 138"/>
          <p:cNvSpPr txBox="1"/>
          <p:nvPr/>
        </p:nvSpPr>
        <p:spPr>
          <a:xfrm>
            <a:off x="5394829" y="2953512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改造规划</a:t>
            </a:r>
          </a:p>
        </p:txBody>
      </p:sp>
      <p:cxnSp>
        <p:nvCxnSpPr>
          <p:cNvPr id="140" name="Connector 139"/>
          <p:cNvCxnSpPr/>
          <p:nvPr/>
        </p:nvCxnSpPr>
        <p:spPr>
          <a:xfrm>
            <a:off x="5413117" y="322783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41" name="Rectangle 140"/>
          <p:cNvSpPr/>
          <p:nvPr/>
        </p:nvSpPr>
        <p:spPr>
          <a:xfrm>
            <a:off x="5458837" y="3182112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586853" y="313639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按业务流规划改造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751145" y="312724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③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5413117" y="341071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45" name="Rectangle 144"/>
          <p:cNvSpPr/>
          <p:nvPr/>
        </p:nvSpPr>
        <p:spPr>
          <a:xfrm>
            <a:off x="5458837" y="3364992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586853" y="331927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信创适配规则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5413117" y="3136392"/>
            <a:ext cx="0" cy="27432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48" name="Connector 147"/>
          <p:cNvCxnSpPr/>
          <p:nvPr/>
        </p:nvCxnSpPr>
        <p:spPr>
          <a:xfrm>
            <a:off x="5339965" y="3657600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49" name="TextBox 148"/>
          <p:cNvSpPr txBox="1"/>
          <p:nvPr/>
        </p:nvSpPr>
        <p:spPr>
          <a:xfrm>
            <a:off x="5394829" y="3566160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批量改造</a:t>
            </a:r>
          </a:p>
        </p:txBody>
      </p:sp>
      <p:cxnSp>
        <p:nvCxnSpPr>
          <p:cNvPr id="150" name="Connector 149"/>
          <p:cNvCxnSpPr/>
          <p:nvPr/>
        </p:nvCxnSpPr>
        <p:spPr>
          <a:xfrm>
            <a:off x="5413117" y="384048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51" name="Rectangle 150"/>
          <p:cNvSpPr/>
          <p:nvPr/>
        </p:nvSpPr>
        <p:spPr>
          <a:xfrm>
            <a:off x="5458837" y="3794760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586853" y="374904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确定性配方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751145" y="373989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③</a:t>
            </a:r>
          </a:p>
        </p:txBody>
      </p:sp>
      <p:cxnSp>
        <p:nvCxnSpPr>
          <p:cNvPr id="154" name="Connector 153"/>
          <p:cNvCxnSpPr/>
          <p:nvPr/>
        </p:nvCxnSpPr>
        <p:spPr>
          <a:xfrm>
            <a:off x="5413117" y="3749040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55" name="Connector 154"/>
          <p:cNvCxnSpPr/>
          <p:nvPr/>
        </p:nvCxnSpPr>
        <p:spPr>
          <a:xfrm>
            <a:off x="5339965" y="4087368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56" name="TextBox 155"/>
          <p:cNvSpPr txBox="1"/>
          <p:nvPr/>
        </p:nvSpPr>
        <p:spPr>
          <a:xfrm>
            <a:off x="5394829" y="3995928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行为对比</a:t>
            </a:r>
          </a:p>
        </p:txBody>
      </p:sp>
      <p:cxnSp>
        <p:nvCxnSpPr>
          <p:cNvPr id="157" name="Connector 156"/>
          <p:cNvCxnSpPr/>
          <p:nvPr/>
        </p:nvCxnSpPr>
        <p:spPr>
          <a:xfrm>
            <a:off x="5413117" y="427024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58" name="Rectangle 157"/>
          <p:cNvSpPr/>
          <p:nvPr/>
        </p:nvSpPr>
        <p:spPr>
          <a:xfrm>
            <a:off x="5458837" y="4224528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5586853" y="417880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新旧行为对比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6751145" y="41696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③</a:t>
            </a:r>
          </a:p>
        </p:txBody>
      </p:sp>
      <p:cxnSp>
        <p:nvCxnSpPr>
          <p:cNvPr id="161" name="Connector 160"/>
          <p:cNvCxnSpPr/>
          <p:nvPr/>
        </p:nvCxnSpPr>
        <p:spPr>
          <a:xfrm>
            <a:off x="5413117" y="4178808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62" name="Connector 161"/>
          <p:cNvCxnSpPr/>
          <p:nvPr/>
        </p:nvCxnSpPr>
        <p:spPr>
          <a:xfrm>
            <a:off x="5339965" y="4517136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63" name="TextBox 162"/>
          <p:cNvSpPr txBox="1"/>
          <p:nvPr/>
        </p:nvSpPr>
        <p:spPr>
          <a:xfrm>
            <a:off x="5394829" y="4425696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进度看板</a:t>
            </a:r>
          </a:p>
        </p:txBody>
      </p:sp>
      <p:cxnSp>
        <p:nvCxnSpPr>
          <p:cNvPr id="164" name="Connector 163"/>
          <p:cNvCxnSpPr/>
          <p:nvPr/>
        </p:nvCxnSpPr>
        <p:spPr>
          <a:xfrm>
            <a:off x="5413117" y="4700016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65" name="Rectangle 164"/>
          <p:cNvSpPr/>
          <p:nvPr/>
        </p:nvSpPr>
        <p:spPr>
          <a:xfrm>
            <a:off x="5458837" y="4654296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5586853" y="4608576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改造进度看板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751145" y="459943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③</a:t>
            </a:r>
          </a:p>
        </p:txBody>
      </p:sp>
      <p:cxnSp>
        <p:nvCxnSpPr>
          <p:cNvPr id="168" name="Connector 167"/>
          <p:cNvCxnSpPr/>
          <p:nvPr/>
        </p:nvCxnSpPr>
        <p:spPr>
          <a:xfrm>
            <a:off x="5413117" y="4608576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69" name="Connector 168"/>
          <p:cNvCxnSpPr/>
          <p:nvPr/>
        </p:nvCxnSpPr>
        <p:spPr>
          <a:xfrm>
            <a:off x="5339965" y="2414016"/>
            <a:ext cx="0" cy="210312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70" name="Connector 169"/>
          <p:cNvCxnSpPr/>
          <p:nvPr/>
        </p:nvCxnSpPr>
        <p:spPr>
          <a:xfrm>
            <a:off x="7726484" y="1792224"/>
            <a:ext cx="0" cy="109728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sp>
        <p:nvSpPr>
          <p:cNvPr id="171" name="Rectangle 170"/>
          <p:cNvSpPr/>
          <p:nvPr/>
        </p:nvSpPr>
        <p:spPr>
          <a:xfrm>
            <a:off x="6934025" y="1901952"/>
            <a:ext cx="1584916" cy="51206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Helvetica Neue"/>
                <a:ea typeface="PingFang SC"/>
              </a:rPr>
              <a:t>项目知识与交接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D8E0F2"/>
                </a:solidFill>
                <a:latin typeface="Helvetica Neue"/>
                <a:ea typeface="PingFang SC"/>
              </a:rPr>
              <a:t>全员共用的底座</a:t>
            </a:r>
          </a:p>
        </p:txBody>
      </p:sp>
      <p:cxnSp>
        <p:nvCxnSpPr>
          <p:cNvPr id="172" name="Connector 171"/>
          <p:cNvCxnSpPr/>
          <p:nvPr/>
        </p:nvCxnSpPr>
        <p:spPr>
          <a:xfrm>
            <a:off x="6970601" y="2615184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73" name="TextBox 172"/>
          <p:cNvSpPr txBox="1"/>
          <p:nvPr/>
        </p:nvSpPr>
        <p:spPr>
          <a:xfrm>
            <a:off x="7025465" y="2523744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代码图谱与业务地图</a:t>
            </a:r>
          </a:p>
        </p:txBody>
      </p:sp>
      <p:cxnSp>
        <p:nvCxnSpPr>
          <p:cNvPr id="174" name="Connector 173"/>
          <p:cNvCxnSpPr/>
          <p:nvPr/>
        </p:nvCxnSpPr>
        <p:spPr>
          <a:xfrm>
            <a:off x="7043753" y="2798064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75" name="Rectangle 174"/>
          <p:cNvSpPr/>
          <p:nvPr/>
        </p:nvSpPr>
        <p:spPr>
          <a:xfrm>
            <a:off x="7089473" y="275234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7217489" y="27066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代码图谱与业务地图</a:t>
            </a:r>
          </a:p>
        </p:txBody>
      </p:sp>
      <p:cxnSp>
        <p:nvCxnSpPr>
          <p:cNvPr id="177" name="Connector 176"/>
          <p:cNvCxnSpPr/>
          <p:nvPr/>
        </p:nvCxnSpPr>
        <p:spPr>
          <a:xfrm>
            <a:off x="7043753" y="2706624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78" name="Connector 177"/>
          <p:cNvCxnSpPr/>
          <p:nvPr/>
        </p:nvCxnSpPr>
        <p:spPr>
          <a:xfrm>
            <a:off x="6970601" y="3044952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79" name="TextBox 178"/>
          <p:cNvSpPr txBox="1"/>
          <p:nvPr/>
        </p:nvSpPr>
        <p:spPr>
          <a:xfrm>
            <a:off x="7025465" y="2953512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业务 Wiki</a:t>
            </a:r>
          </a:p>
        </p:txBody>
      </p:sp>
      <p:cxnSp>
        <p:nvCxnSpPr>
          <p:cNvPr id="180" name="Connector 179"/>
          <p:cNvCxnSpPr/>
          <p:nvPr/>
        </p:nvCxnSpPr>
        <p:spPr>
          <a:xfrm>
            <a:off x="7043753" y="3227832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81" name="Rectangle 180"/>
          <p:cNvSpPr/>
          <p:nvPr/>
        </p:nvSpPr>
        <p:spPr>
          <a:xfrm>
            <a:off x="7089473" y="3182112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217489" y="3136392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业务 Wiki</a:t>
            </a:r>
          </a:p>
        </p:txBody>
      </p:sp>
      <p:cxnSp>
        <p:nvCxnSpPr>
          <p:cNvPr id="183" name="Connector 182"/>
          <p:cNvCxnSpPr/>
          <p:nvPr/>
        </p:nvCxnSpPr>
        <p:spPr>
          <a:xfrm>
            <a:off x="7043753" y="3136392"/>
            <a:ext cx="0" cy="9144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84" name="Connector 183"/>
          <p:cNvCxnSpPr/>
          <p:nvPr/>
        </p:nvCxnSpPr>
        <p:spPr>
          <a:xfrm>
            <a:off x="6970601" y="3474720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85" name="TextBox 184"/>
          <p:cNvSpPr txBox="1"/>
          <p:nvPr/>
        </p:nvSpPr>
        <p:spPr>
          <a:xfrm>
            <a:off x="7025465" y="3383280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交接与上手</a:t>
            </a:r>
          </a:p>
        </p:txBody>
      </p:sp>
      <p:cxnSp>
        <p:nvCxnSpPr>
          <p:cNvPr id="186" name="Connector 185"/>
          <p:cNvCxnSpPr/>
          <p:nvPr/>
        </p:nvCxnSpPr>
        <p:spPr>
          <a:xfrm>
            <a:off x="7043753" y="365760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87" name="Rectangle 186"/>
          <p:cNvSpPr/>
          <p:nvPr/>
        </p:nvSpPr>
        <p:spPr>
          <a:xfrm>
            <a:off x="7089473" y="3611880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7217489" y="356616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交接包</a:t>
            </a:r>
          </a:p>
        </p:txBody>
      </p:sp>
      <p:cxnSp>
        <p:nvCxnSpPr>
          <p:cNvPr id="189" name="Connector 188"/>
          <p:cNvCxnSpPr/>
          <p:nvPr/>
        </p:nvCxnSpPr>
        <p:spPr>
          <a:xfrm>
            <a:off x="7043753" y="384048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90" name="Rectangle 189"/>
          <p:cNvSpPr/>
          <p:nvPr/>
        </p:nvSpPr>
        <p:spPr>
          <a:xfrm>
            <a:off x="7089473" y="3794760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7217489" y="374904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新人上手路径</a:t>
            </a:r>
          </a:p>
        </p:txBody>
      </p:sp>
      <p:cxnSp>
        <p:nvCxnSpPr>
          <p:cNvPr id="192" name="Connector 191"/>
          <p:cNvCxnSpPr/>
          <p:nvPr/>
        </p:nvCxnSpPr>
        <p:spPr>
          <a:xfrm>
            <a:off x="7043753" y="4023360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93" name="Rectangle 192"/>
          <p:cNvSpPr/>
          <p:nvPr/>
        </p:nvSpPr>
        <p:spPr>
          <a:xfrm>
            <a:off x="7089473" y="3977640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217489" y="3931920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交接核对清单</a:t>
            </a:r>
          </a:p>
        </p:txBody>
      </p:sp>
      <p:cxnSp>
        <p:nvCxnSpPr>
          <p:cNvPr id="195" name="Connector 194"/>
          <p:cNvCxnSpPr/>
          <p:nvPr/>
        </p:nvCxnSpPr>
        <p:spPr>
          <a:xfrm>
            <a:off x="7043753" y="3566160"/>
            <a:ext cx="0" cy="45720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196" name="Connector 195"/>
          <p:cNvCxnSpPr/>
          <p:nvPr/>
        </p:nvCxnSpPr>
        <p:spPr>
          <a:xfrm>
            <a:off x="6970601" y="4270248"/>
            <a:ext cx="45720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97" name="TextBox 196"/>
          <p:cNvSpPr txBox="1"/>
          <p:nvPr/>
        </p:nvSpPr>
        <p:spPr>
          <a:xfrm>
            <a:off x="7025465" y="4178808"/>
            <a:ext cx="14934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141414"/>
                </a:solidFill>
                <a:latin typeface="Helvetica Neue"/>
                <a:ea typeface="PingFang SC"/>
              </a:rPr>
              <a:t>知识回流</a:t>
            </a:r>
          </a:p>
        </p:txBody>
      </p:sp>
      <p:cxnSp>
        <p:nvCxnSpPr>
          <p:cNvPr id="198" name="Connector 197"/>
          <p:cNvCxnSpPr/>
          <p:nvPr/>
        </p:nvCxnSpPr>
        <p:spPr>
          <a:xfrm>
            <a:off x="7043753" y="445312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199" name="Rectangle 198"/>
          <p:cNvSpPr/>
          <p:nvPr/>
        </p:nvSpPr>
        <p:spPr>
          <a:xfrm>
            <a:off x="7089473" y="4407408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217489" y="436168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知识回流</a:t>
            </a:r>
          </a:p>
        </p:txBody>
      </p:sp>
      <p:cxnSp>
        <p:nvCxnSpPr>
          <p:cNvPr id="201" name="Connector 200"/>
          <p:cNvCxnSpPr/>
          <p:nvPr/>
        </p:nvCxnSpPr>
        <p:spPr>
          <a:xfrm>
            <a:off x="7043753" y="4636008"/>
            <a:ext cx="36576" cy="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sp>
        <p:nvSpPr>
          <p:cNvPr id="202" name="Rectangle 201"/>
          <p:cNvSpPr/>
          <p:nvPr/>
        </p:nvSpPr>
        <p:spPr>
          <a:xfrm>
            <a:off x="7089473" y="4590288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7217489" y="4544568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AI 改动留痕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7043753" y="4361688"/>
            <a:ext cx="0" cy="274320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205" name="Connector 204"/>
          <p:cNvCxnSpPr/>
          <p:nvPr/>
        </p:nvCxnSpPr>
        <p:spPr>
          <a:xfrm>
            <a:off x="6970601" y="2414016"/>
            <a:ext cx="0" cy="1856232"/>
          </a:xfrm>
          <a:prstGeom prst="line">
            <a:avLst/>
          </a:prstGeom>
          <a:ln w="6350">
            <a:solidFill>
              <a:srgbClr val="A0A0A0"/>
            </a:solidFill>
          </a:ln>
        </p:spPr>
      </p:cxnSp>
      <p:cxnSp>
        <p:nvCxnSpPr>
          <p:cNvPr id="206" name="Connector 205"/>
          <p:cNvCxnSpPr/>
          <p:nvPr/>
        </p:nvCxnSpPr>
        <p:spPr>
          <a:xfrm>
            <a:off x="9357120" y="1792224"/>
            <a:ext cx="0" cy="109728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sp>
        <p:nvSpPr>
          <p:cNvPr id="207" name="Rectangle 206"/>
          <p:cNvSpPr/>
          <p:nvPr/>
        </p:nvSpPr>
        <p:spPr>
          <a:xfrm>
            <a:off x="8564662" y="1901952"/>
            <a:ext cx="15849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A8"/>
            </a:solidFill>
            <a:prstDash val="dash"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4AA8"/>
                </a:solidFill>
                <a:latin typeface="Helvetica Neue"/>
                <a:ea typeface="PingFang SC"/>
              </a:rPr>
              <a:t>人机接口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6B6B6B"/>
                </a:solidFill>
                <a:latin typeface="Helvetica Neue"/>
                <a:ea typeface="PingFang SC"/>
              </a:rPr>
              <a:t>横切：一份知识，多个出口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8720110" y="256946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09" name="TextBox 208"/>
          <p:cNvSpPr txBox="1"/>
          <p:nvPr/>
        </p:nvSpPr>
        <p:spPr>
          <a:xfrm>
            <a:off x="8848126" y="252374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平台界面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8720110" y="275234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8848126" y="27066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编程助手提示词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8720110" y="293522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8848126" y="288950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IDE 接口（MCP）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8720110" y="311810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8848126" y="307238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命令行工具</a:t>
            </a:r>
          </a:p>
        </p:txBody>
      </p:sp>
      <p:sp>
        <p:nvSpPr>
          <p:cNvPr id="216" name="Rectangle 215"/>
          <p:cNvSpPr/>
          <p:nvPr/>
        </p:nvSpPr>
        <p:spPr>
          <a:xfrm>
            <a:off x="8720110" y="330098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8848126" y="325526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群机器人 / 开放 API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10012418" y="324612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①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720110" y="3483864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848126" y="343814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无人化流水线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8720110" y="366674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8848126" y="36210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内网离线包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10012418" y="361188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①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8720110" y="3849624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8848126" y="380390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跨项目工作台</a:t>
            </a:r>
          </a:p>
        </p:txBody>
      </p:sp>
      <p:cxnSp>
        <p:nvCxnSpPr>
          <p:cNvPr id="226" name="Connector 225"/>
          <p:cNvCxnSpPr/>
          <p:nvPr/>
        </p:nvCxnSpPr>
        <p:spPr>
          <a:xfrm>
            <a:off x="10987756" y="1792224"/>
            <a:ext cx="0" cy="109728"/>
          </a:xfrm>
          <a:prstGeom prst="line">
            <a:avLst/>
          </a:prstGeom>
          <a:ln w="9525">
            <a:solidFill>
              <a:srgbClr val="141414"/>
            </a:solidFill>
          </a:ln>
        </p:spPr>
      </p:cxnSp>
      <p:sp>
        <p:nvSpPr>
          <p:cNvPr id="227" name="Rectangle 226"/>
          <p:cNvSpPr/>
          <p:nvPr/>
        </p:nvSpPr>
        <p:spPr>
          <a:xfrm>
            <a:off x="10195298" y="1901952"/>
            <a:ext cx="15849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AA8"/>
            </a:solidFill>
            <a:prstDash val="dash"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F4AA8"/>
                </a:solidFill>
                <a:latin typeface="Helvetica Neue"/>
                <a:ea typeface="PingFang SC"/>
              </a:rPr>
              <a:t>度量与管理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6B6B6B"/>
                </a:solidFill>
                <a:latin typeface="Helvetica Neue"/>
                <a:ea typeface="PingFang SC"/>
              </a:rPr>
              <a:t>横切：每一步自动记账</a:t>
            </a:r>
          </a:p>
        </p:txBody>
      </p:sp>
      <p:sp>
        <p:nvSpPr>
          <p:cNvPr id="228" name="Rectangle 227"/>
          <p:cNvSpPr/>
          <p:nvPr/>
        </p:nvSpPr>
        <p:spPr>
          <a:xfrm>
            <a:off x="10350746" y="256946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29" name="TextBox 228"/>
          <p:cNvSpPr txBox="1"/>
          <p:nvPr/>
        </p:nvSpPr>
        <p:spPr>
          <a:xfrm>
            <a:off x="10478762" y="252374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提效报告与基线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10350746" y="2752344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10478762" y="270662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成本与模型</a:t>
            </a:r>
          </a:p>
        </p:txBody>
      </p:sp>
      <p:sp>
        <p:nvSpPr>
          <p:cNvPr id="232" name="Rectangle 231"/>
          <p:cNvSpPr/>
          <p:nvPr/>
        </p:nvSpPr>
        <p:spPr>
          <a:xfrm>
            <a:off x="10350746" y="2935224"/>
            <a:ext cx="91440" cy="9144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3" name="TextBox 232"/>
          <p:cNvSpPr txBox="1"/>
          <p:nvPr/>
        </p:nvSpPr>
        <p:spPr>
          <a:xfrm>
            <a:off x="10478762" y="288950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D9622B"/>
                </a:solidFill>
                <a:latin typeface="Helvetica Neue"/>
                <a:ea typeface="PingFang SC"/>
              </a:rPr>
              <a:t>工时自动归集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11643055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②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10350746" y="3118104"/>
            <a:ext cx="91440" cy="9144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0478762" y="307238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“少找人”统计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1643055" y="306324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①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10350746" y="3300984"/>
            <a:ext cx="91440" cy="91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0478762" y="3255264"/>
            <a:ext cx="11734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2B2B2B"/>
                </a:solidFill>
                <a:latin typeface="Helvetica Neue"/>
                <a:ea typeface="PingFang SC"/>
              </a:rPr>
              <a:t>维保价值账单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1643055" y="324612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1F4AA8"/>
                </a:solidFill>
                <a:latin typeface="Helvetica Neue"/>
                <a:ea typeface="PingFang SC"/>
              </a:rPr>
              <a:t>②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411480" y="6044183"/>
            <a:ext cx="100584" cy="10058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66928" y="59893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已有 23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1371600" y="6044183"/>
            <a:ext cx="100584" cy="100584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1527048" y="59893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部分 11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2331720" y="6044183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2487168" y="59893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缺 14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3383279" y="5989320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F4AA8"/>
                </a:solidFill>
                <a:latin typeface="Helvetica Neue"/>
                <a:ea typeface="PingFang SC"/>
              </a:rPr>
              <a:t>①②③</a:t>
            </a: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  一期 / 二期 / 三期</a:t>
            </a:r>
          </a:p>
        </p:txBody>
      </p:sp>
      <p:cxnSp>
        <p:nvCxnSpPr>
          <p:cNvPr id="248" name="Connector 24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49" name="TextBox 248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现状截至 2026-10-09。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问题拆解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缺口集中在重写升级和日常维护的回归环节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17320"/>
          <a:ext cx="676656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760720"/>
            <a:ext cx="6766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图 4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各方向模块的现状（共 48 个）。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6304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读这张图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7830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重写升级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07568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改造规划、批量改写、新旧行为对比，即三期内容。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65176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日常维护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94436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回归清单和风险分级，决定能否无人值守地改。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520439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线上运维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381304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报错定位和巡检已有基础，按试点需要补齐。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438912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41414"/>
                </a:solidFill>
                <a:latin typeface="Helvetica Neue"/>
                <a:ea typeface="PingFang SC"/>
              </a:rPr>
              <a:t>一期已完成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4681728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现场答复相关功能已实现，待真实环境验证。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知识库：事实由工具抽取，理解由模型撰写并经人确认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600200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源代码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Java · .NET · SQL · 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600200"/>
            <a:ext cx="1828800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静态解析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不调用模型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1600200"/>
            <a:ext cx="1828800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知识图谱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随代码增量更新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48840" y="2034540"/>
            <a:ext cx="365760" cy="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cxnSp>
        <p:nvCxnSpPr>
          <p:cNvPr id="9" name="Connector 8"/>
          <p:cNvCxnSpPr/>
          <p:nvPr/>
        </p:nvCxnSpPr>
        <p:spPr>
          <a:xfrm>
            <a:off x="4343400" y="2034540"/>
            <a:ext cx="365760" cy="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cxnSp>
        <p:nvCxnSpPr>
          <p:cNvPr id="10" name="Connector 9"/>
          <p:cNvCxnSpPr/>
          <p:nvPr/>
        </p:nvCxnSpPr>
        <p:spPr>
          <a:xfrm>
            <a:off x="6537960" y="2034540"/>
            <a:ext cx="365760" cy="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sp>
        <p:nvSpPr>
          <p:cNvPr id="11" name="Rectangle 10"/>
          <p:cNvSpPr/>
          <p:nvPr/>
        </p:nvSpPr>
        <p:spPr>
          <a:xfrm>
            <a:off x="6903720" y="1371600"/>
            <a:ext cx="2331720" cy="2788920"/>
          </a:xfrm>
          <a:prstGeom prst="rect">
            <a:avLst/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13448" y="1444752"/>
            <a:ext cx="214883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050" b="1">
                <a:solidFill>
                  <a:srgbClr val="1F4AA8"/>
                </a:solidFill>
                <a:latin typeface="Helvetica Neue"/>
                <a:ea typeface="PingFang SC"/>
              </a:rPr>
              <a:t>业务 Wiki</a:t>
            </a: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模型写、人确认，自底向上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78040" y="1993392"/>
            <a:ext cx="17830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EA6DA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41414"/>
                </a:solidFill>
                <a:latin typeface="Helvetica Neue"/>
                <a:ea typeface="PingFang SC"/>
              </a:rPr>
              <a:t>系统总览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8069579" y="2286000"/>
            <a:ext cx="0" cy="118872"/>
          </a:xfrm>
          <a:prstGeom prst="line">
            <a:avLst/>
          </a:prstGeom>
          <a:ln w="9525">
            <a:solidFill>
              <a:srgbClr val="1F4AA8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7178040" y="2404872"/>
            <a:ext cx="17830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EA6DA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41414"/>
                </a:solidFill>
                <a:latin typeface="Helvetica Neue"/>
                <a:ea typeface="PingFang SC"/>
              </a:rPr>
              <a:t>业务域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8069579" y="2697480"/>
            <a:ext cx="0" cy="118872"/>
          </a:xfrm>
          <a:prstGeom prst="line">
            <a:avLst/>
          </a:prstGeom>
          <a:ln w="9525">
            <a:solidFill>
              <a:srgbClr val="1F4AA8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7178040" y="2816352"/>
            <a:ext cx="17830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EA6DA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41414"/>
                </a:solidFill>
                <a:latin typeface="Helvetica Neue"/>
                <a:ea typeface="PingFang SC"/>
              </a:rPr>
              <a:t>模块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8069579" y="3108960"/>
            <a:ext cx="0" cy="118872"/>
          </a:xfrm>
          <a:prstGeom prst="line">
            <a:avLst/>
          </a:prstGeom>
          <a:ln w="9525">
            <a:solidFill>
              <a:srgbClr val="1F4AA8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7178040" y="3227832"/>
            <a:ext cx="17830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EA6DA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41414"/>
                </a:solidFill>
                <a:latin typeface="Helvetica Neue"/>
                <a:ea typeface="PingFang SC"/>
              </a:rPr>
              <a:t>业务对象（表）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8069579" y="3520440"/>
            <a:ext cx="0" cy="118872"/>
          </a:xfrm>
          <a:prstGeom prst="line">
            <a:avLst/>
          </a:prstGeom>
          <a:ln w="9525">
            <a:solidFill>
              <a:srgbClr val="1F4AA8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7178040" y="3639312"/>
            <a:ext cx="178307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8EA6DA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141414"/>
                </a:solidFill>
                <a:latin typeface="Helvetica Neue"/>
                <a:ea typeface="PingFang SC"/>
              </a:rPr>
              <a:t>业务流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1600200"/>
            <a:ext cx="2039112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按需读取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只取相关页面原文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35440" y="2034540"/>
            <a:ext cx="365760" cy="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9601200" y="2788920"/>
            <a:ext cx="2039112" cy="86868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人与编程助手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平台 · IDE · 群聊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0620756" y="2468880"/>
            <a:ext cx="0" cy="32004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sp>
        <p:nvSpPr>
          <p:cNvPr id="26" name="Rectangle 25"/>
          <p:cNvSpPr/>
          <p:nvPr/>
        </p:nvSpPr>
        <p:spPr>
          <a:xfrm>
            <a:off x="548640" y="4526280"/>
            <a:ext cx="214884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6B6B6B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代码改动（diff）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工单采纳后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63240" y="4526280"/>
            <a:ext cx="246888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6B6B6B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影响比对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只把受影响的页标为过期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97880" y="4526280"/>
            <a:ext cx="2377440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6B6B6B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修订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只重写过期页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697480" y="4892040"/>
            <a:ext cx="36576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0" name="Connector 29"/>
          <p:cNvCxnSpPr/>
          <p:nvPr/>
        </p:nvCxnSpPr>
        <p:spPr>
          <a:xfrm>
            <a:off x="5532120" y="4892040"/>
            <a:ext cx="365760" cy="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1" name="Connector 30"/>
          <p:cNvCxnSpPr/>
          <p:nvPr/>
        </p:nvCxnSpPr>
        <p:spPr>
          <a:xfrm flipV="1">
            <a:off x="7863840" y="4160520"/>
            <a:ext cx="0" cy="36576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32" name="Rectangle 31"/>
          <p:cNvSpPr/>
          <p:nvPr/>
        </p:nvSpPr>
        <p:spPr>
          <a:xfrm>
            <a:off x="8641080" y="4526280"/>
            <a:ext cx="299923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6B6B6B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业务方答复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原话写回，只有人能写</a:t>
            </a:r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8778240" y="4160520"/>
            <a:ext cx="365760" cy="36576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 flipV="1">
            <a:off x="1623060" y="2468880"/>
            <a:ext cx="0" cy="2057400"/>
          </a:xfrm>
          <a:prstGeom prst="line">
            <a:avLst/>
          </a:prstGeom>
          <a:ln w="9525">
            <a:solidFill>
              <a:srgbClr val="A0A0A0"/>
            </a:solidFill>
            <a:prstDash val="dash"/>
          </a:ln>
        </p:spPr>
      </p:cxnSp>
      <p:sp>
        <p:nvSpPr>
          <p:cNvPr id="35" name="TextBox 34"/>
          <p:cNvSpPr txBox="1"/>
          <p:nvPr/>
        </p:nvSpPr>
        <p:spPr>
          <a:xfrm>
            <a:off x="1691640" y="356616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代码在变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86400"/>
            <a:ext cx="5486400" cy="74980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532120"/>
            <a:ext cx="53035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事实与理解分开  </a:t>
            </a: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事实由工具生成，可核对到代码行；理解由模型撰写，经人确认。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72200" y="5486400"/>
            <a:ext cx="5468112" cy="749808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09360" y="5532120"/>
            <a:ext cx="521208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只认一份知识。</a:t>
            </a: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使用时读取原文，不做二次摘要，避免信息再次损失。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[14] GitHub Copilot 记忆   [24] RepoDoc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现场答复：模型只做选择题，把握度从概率中读出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737360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需求原文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群聊 · 工单 · 平台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1554480"/>
            <a:ext cx="1920240" cy="100584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取相关知识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相关业务流与业务域原文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057400"/>
            <a:ext cx="320040" cy="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4846320" y="1371600"/>
            <a:ext cx="3017520" cy="2377440"/>
          </a:xfrm>
          <a:prstGeom prst="rect">
            <a:avLst/>
          </a:prstGeom>
          <a:solidFill>
            <a:srgbClr val="DCE4F5"/>
          </a:solidFill>
          <a:ln w="1270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83480" y="144475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4AA8"/>
                </a:solidFill>
                <a:latin typeface="Helvetica Neue"/>
                <a:ea typeface="PingFang SC"/>
              </a:rPr>
              <a:t>三道选择题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3480" y="178308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1  怎么处理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21808" y="201168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直接答复 / 需改代码 / 与规则冲突 / 需问业务方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24231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2  依据哪一页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8" y="2651760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从相关知识页中选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063239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3  该问谁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21808" y="3291839"/>
            <a:ext cx="2423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从已知答复人中选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26280" y="2057400"/>
            <a:ext cx="320040" cy="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8229600" y="1371600"/>
            <a:ext cx="3410712" cy="1051560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把握度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由选项概率计算；把握不足即交人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1892807"/>
            <a:ext cx="365760" cy="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8229600" y="2697480"/>
            <a:ext cx="3410712" cy="1051560"/>
          </a:xfrm>
          <a:prstGeom prst="rect">
            <a:avLst/>
          </a:prstGeom>
          <a:solidFill>
            <a:srgbClr val="FBE7DD"/>
          </a:solidFill>
          <a:ln w="11430">
            <a:solidFill>
              <a:srgbClr val="D9622B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D9622B"/>
                </a:solidFill>
                <a:latin typeface="Helvetica Neue"/>
                <a:ea typeface="PingFang SC"/>
              </a:rPr>
              <a:t>规则兜底（只降不升）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2B2B2B"/>
                </a:solidFill>
                <a:latin typeface="Helvetica Neue"/>
                <a:ea typeface="PingFang SC"/>
              </a:rPr>
              <a:t>涉及资金、审批、统计口径时，依据未确认一律交人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934956" y="2423160"/>
            <a:ext cx="0" cy="274320"/>
          </a:xfrm>
          <a:prstGeom prst="line">
            <a:avLst/>
          </a:prstGeom>
          <a:ln w="12700">
            <a:solidFill>
              <a:srgbClr val="141414"/>
            </a:solidFill>
            <a:tailEnd type="triangle" w="med" len="med"/>
          </a:ln>
        </p:spPr>
      </p:cxnSp>
      <p:sp>
        <p:nvSpPr>
          <p:cNvPr id="21" name="Rectangle 20"/>
          <p:cNvSpPr/>
          <p:nvPr/>
        </p:nvSpPr>
        <p:spPr>
          <a:xfrm>
            <a:off x="4846320" y="4160520"/>
            <a:ext cx="3017520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AA8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F4AA8"/>
                </a:solidFill>
                <a:latin typeface="Helvetica Neue"/>
                <a:ea typeface="PingFang SC"/>
              </a:rPr>
              <a:t>直接答复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固定句式，附依据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4160520"/>
            <a:ext cx="3410712" cy="777240"/>
          </a:xfrm>
          <a:prstGeom prst="rect">
            <a:avLst/>
          </a:prstGeom>
          <a:solidFill>
            <a:srgbClr val="FFFFFF"/>
          </a:solidFill>
          <a:ln w="11430">
            <a:solidFill>
              <a:srgbClr val="D9622B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D9622B"/>
                </a:solidFill>
                <a:latin typeface="Helvetica Neue"/>
                <a:ea typeface="PingFang SC"/>
              </a:rPr>
              <a:t>转人工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派给对应的答复人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949440" y="3749039"/>
            <a:ext cx="2194560" cy="411481"/>
          </a:xfrm>
          <a:prstGeom prst="line">
            <a:avLst/>
          </a:prstGeom>
          <a:ln w="9525">
            <a:solidFill>
              <a:srgbClr val="141414"/>
            </a:solidFill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9934956" y="3749039"/>
            <a:ext cx="0" cy="411481"/>
          </a:xfrm>
          <a:prstGeom prst="line">
            <a:avLst/>
          </a:prstGeom>
          <a:ln w="9525">
            <a:solidFill>
              <a:srgbClr val="141414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8229600" y="5257800"/>
            <a:ext cx="341071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6B6B6B"/>
            </a:solidFill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答复写回知识库</a:t>
            </a:r>
          </a:p>
          <a:p>
            <a:pPr algn="ctr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同类问题下次可直接答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934956" y="4937759"/>
            <a:ext cx="0" cy="320041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cxnSp>
        <p:nvCxnSpPr>
          <p:cNvPr id="27" name="Connector 26"/>
          <p:cNvCxnSpPr/>
          <p:nvPr/>
        </p:nvCxnSpPr>
        <p:spPr>
          <a:xfrm flipH="1">
            <a:off x="3566160" y="5623560"/>
            <a:ext cx="4663440" cy="0"/>
          </a:xfrm>
          <a:prstGeom prst="line">
            <a:avLst/>
          </a:prstGeom>
          <a:ln w="12700">
            <a:solidFill>
              <a:srgbClr val="6B6B6B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3566160" y="2560320"/>
            <a:ext cx="0" cy="3063240"/>
          </a:xfrm>
          <a:prstGeom prst="line">
            <a:avLst/>
          </a:prstGeom>
          <a:ln w="12700">
            <a:solidFill>
              <a:srgbClr val="6B6B6B"/>
            </a:solidFill>
            <a:tailEnd type="triangle" w="med" len="med"/>
          </a:ln>
        </p:spPr>
      </p:cxnSp>
      <p:sp>
        <p:nvSpPr>
          <p:cNvPr id="29" name="TextBox 28"/>
          <p:cNvSpPr txBox="1"/>
          <p:nvPr/>
        </p:nvSpPr>
        <p:spPr>
          <a:xfrm>
            <a:off x="3657600" y="534924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回流：确认的页越多，能直接答的越多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28803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B6B6B"/>
                </a:solidFill>
                <a:latin typeface="Helvetica Neue"/>
                <a:ea typeface="PingFang SC"/>
              </a:rPr>
              <a:t>为什么这样设计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200400"/>
            <a:ext cx="27432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模型擅长在给定选项中判断，不擅长自由作答。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公开案例中自动答复约一半有帮助 [9]，转人工是主路径之一。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[9] Uber Genie   [20] System 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自动化分四级，按工单风险选择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931920"/>
            <a:ext cx="2697480" cy="1371600"/>
          </a:xfrm>
          <a:prstGeom prst="rect">
            <a:avLst/>
          </a:prstGeom>
          <a:solidFill>
            <a:srgbClr val="FFFFFF"/>
          </a:solidFill>
          <a:ln w="1143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04164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问答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8912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人提问，知识库作答，附代码位置和把握度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7667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人：提问、判断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14416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适用：现场答复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46704" y="3429000"/>
            <a:ext cx="2697480" cy="1874519"/>
          </a:xfrm>
          <a:prstGeom prst="rect">
            <a:avLst/>
          </a:prstGeom>
          <a:solidFill>
            <a:srgbClr val="DCE4F5"/>
          </a:solidFill>
          <a:ln w="1143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353872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辅助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886200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开发在自己的工具里工作，知识自动送到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537667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人：写代码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46704" y="5614416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适用：复杂需求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2926079"/>
            <a:ext cx="2697480" cy="2377440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1928" y="3035808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半自动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1928" y="3383279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141414"/>
                </a:solidFill>
                <a:latin typeface="Helvetica Neue"/>
                <a:ea typeface="PingFang SC"/>
              </a:rPr>
              <a:t>智能体完成修改，人审核后采纳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537667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人：审核、验收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44768" y="5614416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适用：当前默认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2832" y="2423159"/>
            <a:ext cx="2697480" cy="2880360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2532887"/>
            <a:ext cx="2423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Helvetica Neue"/>
                <a:ea typeface="PingFang SC"/>
              </a:rPr>
              <a:t>无人值守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2880359"/>
            <a:ext cx="2423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>
                <a:solidFill>
                  <a:srgbClr val="FFFFFF"/>
                </a:solidFill>
                <a:latin typeface="Helvetica Neue"/>
                <a:ea typeface="PingFang SC"/>
              </a:rPr>
              <a:t>低风险工单通过检查后自动完成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5376672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1414"/>
                </a:solidFill>
                <a:latin typeface="Helvetica Neue"/>
                <a:ea typeface="PingFang SC"/>
              </a:rPr>
              <a:t>人：只验收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42832" y="5614416"/>
            <a:ext cx="26974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B6B6B"/>
                </a:solidFill>
                <a:latin typeface="Helvetica Neue"/>
                <a:ea typeface="PingFang SC"/>
              </a:rPr>
              <a:t>适用：由试点数据决定范围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1481328"/>
            <a:ext cx="2743200" cy="0"/>
          </a:xfrm>
          <a:prstGeom prst="line">
            <a:avLst/>
          </a:prstGeom>
          <a:ln w="9525">
            <a:solidFill>
              <a:srgbClr val="A0A0A0"/>
            </a:solidFill>
            <a:tailEnd type="triangle" w="med" len="med"/>
          </a:ln>
        </p:spPr>
      </p:cxnSp>
      <p:sp>
        <p:nvSpPr>
          <p:cNvPr id="26" name="TextBox 25"/>
          <p:cNvSpPr txBox="1"/>
          <p:nvPr/>
        </p:nvSpPr>
        <p:spPr>
          <a:xfrm>
            <a:off x="3383280" y="13716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自动化程度提高，人出现的点减少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55 万行的财务共享平台：不调用模型，抽出 3,079 条业务流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5760720" cy="275234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2377440"/>
                <a:gridCol w="3383280"/>
              </a:tblGrid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项目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数值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代码规模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约 55 万行 Java，98% 来自反编译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Java 源文件 / 类 / 方法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2,673 / 2,740 / 37,449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接口 / 定时任务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2,918 / 161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业务流 / 表 / 业务域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3,079 / 802 / 114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还原的状态机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170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3931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一句中文需求定位到代码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约 5 秒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34340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3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分析全部在本地完成，源码不外传。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7607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小型 OA 项目：</a:t>
            </a: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全量分析约 3 分 40 秒；改动一个方法后，增量更新 56 秒。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812280" y="1737360"/>
          <a:ext cx="475488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12280" y="1417320"/>
            <a:ext cx="4754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业务流能追到数据库表的比例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80" y="507492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图 5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补全数据访问层解析之后。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有业务理解的部分，需求定位准确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463040"/>
            <a:ext cx="5440680" cy="0"/>
          </a:xfrm>
          <a:prstGeom prst="line">
            <a:avLst/>
          </a:prstGeom>
          <a:ln w="25400">
            <a:solidFill>
              <a:srgbClr val="1F4AA8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57276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案例 A · 审批域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600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已写理解页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65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需求原文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12848"/>
            <a:ext cx="5440680" cy="56692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1284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Helvetica Neue"/>
                <a:ea typeface="PingFang SC"/>
              </a:rPr>
              <a:t>“批量审批要记录真实审批人，任一单据失败整批回滚”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175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排在最前的正是“批量审批”相关页面，现有问题已写明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6393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6393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直接给出需要修改的代码位置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2611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F4AA8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6110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无需通读 55 万行代码即可动手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  <a:ea typeface="PingFang SC"/>
              </a:rPr>
              <a:t>结果：</a:t>
            </a:r>
            <a:r>
              <a:rPr sz="1300" b="1">
                <a:solidFill>
                  <a:srgbClr val="1F4AA8"/>
                </a:solidFill>
                <a:latin typeface="Helvetica Neue"/>
                <a:ea typeface="PingFang SC"/>
              </a:rPr>
              <a:t>准确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90488" y="1463040"/>
            <a:ext cx="5440679" cy="0"/>
          </a:xfrm>
          <a:prstGeom prst="line">
            <a:avLst/>
          </a:prstGeom>
          <a:ln w="25400">
            <a:solidFill>
              <a:srgbClr val="D9622B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6190488" y="1572768"/>
            <a:ext cx="3840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41414"/>
                </a:solidFill>
                <a:latin typeface="Helvetica Neue"/>
                <a:ea typeface="PingFang SC"/>
              </a:rPr>
              <a:t>案例 B · 银行域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160020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D9622B"/>
                </a:solidFill>
                <a:latin typeface="Helvetica Neue"/>
                <a:ea typeface="PingFang SC"/>
              </a:rPr>
              <a:t>只有代码事实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19659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需求原文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0488" y="2212848"/>
            <a:ext cx="5440680" cy="56692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27648" y="221284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1414"/>
                </a:solidFill>
                <a:latin typeface="Helvetica Neue"/>
                <a:ea typeface="PingFang SC"/>
              </a:rPr>
              <a:t>“银行流水自动匹配收款单的金额容差改为 0.01 元”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90488" y="30175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622B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7" y="30175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找到了匹配逻辑所在的代码，方向正确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0488" y="3639312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622B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7" y="363931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但排在第一的业务流不相关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4261104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9622B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0527" y="426110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原因：这部分还没有业务层的说明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0488" y="4983480"/>
            <a:ext cx="5440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B6B6B"/>
                </a:solidFill>
                <a:latin typeface="Helvetica Neue"/>
                <a:ea typeface="PingFang SC"/>
              </a:rPr>
              <a:t>结果：</a:t>
            </a:r>
            <a:r>
              <a:rPr sz="1300" b="1">
                <a:solidFill>
                  <a:srgbClr val="D9622B"/>
                </a:solidFill>
                <a:latin typeface="Helvetica Neue"/>
                <a:ea typeface="PingFang SC"/>
              </a:rPr>
              <a:t>半准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532120"/>
            <a:ext cx="11091672" cy="640080"/>
          </a:xfrm>
          <a:prstGeom prst="rect">
            <a:avLst/>
          </a:prstGeom>
          <a:solidFill>
            <a:srgbClr val="DCE4F5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577840"/>
            <a:ext cx="10789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4AA8"/>
                </a:solidFill>
                <a:latin typeface="Helvetica Neue"/>
                <a:ea typeface="PingFang SC"/>
              </a:rPr>
              <a:t>对应假设：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知识库按工单涉及的业务逐步补全，投入集中在真正用到的部分。命中率需在试点中统计。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实测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知识库已初步建成，下一步是人工确认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48640" y="1463040"/>
          <a:ext cx="713232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12080"/>
            <a:ext cx="6949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图 6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知识库各类页面的撰写进度。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46304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Helvetica Neue"/>
                <a:ea typeface="PingFang SC"/>
              </a:rP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1618488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页已撰写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176272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Helvetica Neue"/>
                <a:ea typeface="PingFang SC"/>
              </a:rPr>
              <a:t>290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2331720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处待确认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889504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141414"/>
                </a:solidFill>
                <a:latin typeface="Helvetica Neue"/>
                <a:ea typeface="PingFang SC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3044952"/>
            <a:ext cx="2103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B6B6B"/>
                </a:solidFill>
                <a:latin typeface="Helvetica Neue"/>
                <a:ea typeface="PingFang SC"/>
              </a:rPr>
              <a:t>个问题待业务方答复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3840480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确认之前，问题都会转人工。试点中每次人工答复都会写回并推动确认。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先答得快，再改得稳，最后让翻新看得见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611880" cy="4251960"/>
          </a:xfrm>
          <a:prstGeom prst="rect">
            <a:avLst/>
          </a:prstGeom>
          <a:solidFill>
            <a:srgbClr val="DCE4F5"/>
          </a:solidFill>
          <a:ln w="19050">
            <a:solidFill>
              <a:srgbClr val="1F4AA8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一期 · 答得快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需求人员少找开发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286000"/>
            <a:ext cx="2194560" cy="246888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Helvetica Neue"/>
                <a:ea typeface="PingFang SC"/>
              </a:rPr>
              <a:t>代码已完成，待试点验证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2697480"/>
            <a:ext cx="3246119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749808" y="2880360"/>
            <a:ext cx="100584" cy="10058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81635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相似工单查重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3172968"/>
            <a:ext cx="100584" cy="10058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310896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可行性自动答复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8" y="3465575"/>
            <a:ext cx="100584" cy="10058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340156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转人工与答案回流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758184"/>
            <a:ext cx="100584" cy="10058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69417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群机器人 / 开放 API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4050792"/>
            <a:ext cx="100584" cy="10058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98678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内网离线包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343400"/>
            <a:ext cx="100584" cy="100584"/>
          </a:xfrm>
          <a:prstGeom prst="rect">
            <a:avLst/>
          </a:prstGeom>
          <a:solidFill>
            <a:srgbClr val="1F4AA8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“少找人”统计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31520" y="4800600"/>
            <a:ext cx="3246119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731520" y="48737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过关：</a:t>
            </a: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试点项目自动答复采纳率达到立项会定的线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69663" y="1828800"/>
            <a:ext cx="109729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25" name="Rectangle 24"/>
          <p:cNvSpPr/>
          <p:nvPr/>
        </p:nvSpPr>
        <p:spPr>
          <a:xfrm>
            <a:off x="4288536" y="1463040"/>
            <a:ext cx="36118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71416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二期 · 改得稳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416" y="19659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不敢改变成敢改、自动改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71416" y="2286000"/>
            <a:ext cx="914400" cy="2468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6B6B6B"/>
                </a:solidFill>
                <a:latin typeface="Helvetica Neue"/>
                <a:ea typeface="PingFang SC"/>
              </a:rPr>
              <a:t>未开始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71416" y="2697480"/>
            <a:ext cx="3246120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4489703" y="2880360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72583" y="281635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工作量区间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9703" y="3172968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72583" y="310896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风险分级与自动触发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9703" y="3465575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72583" y="340156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回归清单与表征测试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489703" y="3758184"/>
            <a:ext cx="100584" cy="100584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72583" y="369417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修复原因留痕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89703" y="4050792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72583" y="3986784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补丁跨客户分支传播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89703" y="4343400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72583" y="427939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工时自动归集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489703" y="4636008"/>
            <a:ext cx="100584" cy="100584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72583" y="457200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维保价值账单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471416" y="4800600"/>
            <a:ext cx="3246120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4471416" y="48737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过关：</a:t>
            </a: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低风险工单无人化后，退回率不高于人工基线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909560" y="1828800"/>
            <a:ext cx="109728" cy="0"/>
          </a:xfrm>
          <a:prstGeom prst="line">
            <a:avLst/>
          </a:prstGeom>
          <a:ln w="15875">
            <a:solidFill>
              <a:srgbClr val="1F4AA8"/>
            </a:solidFill>
            <a:tailEnd type="triangle" w="med" len="med"/>
          </a:ln>
        </p:spPr>
      </p:cxnSp>
      <p:sp>
        <p:nvSpPr>
          <p:cNvPr id="47" name="Rectangle 46"/>
          <p:cNvSpPr/>
          <p:nvPr/>
        </p:nvSpPr>
        <p:spPr>
          <a:xfrm>
            <a:off x="8028431" y="1463040"/>
            <a:ext cx="3611880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D6D5CF"/>
            </a:solidFill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11311" y="1572768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三期 · 翻新看得见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11311" y="1965960"/>
            <a:ext cx="3246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B6B6B"/>
                </a:solidFill>
                <a:latin typeface="Helvetica Neue"/>
                <a:ea typeface="PingFang SC"/>
              </a:rPr>
              <a:t>改造进度按业务流可查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11311" y="2286000"/>
            <a:ext cx="914400" cy="246888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 wrap="square"/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6B6B6B"/>
                </a:solidFill>
                <a:latin typeface="Helvetica Neue"/>
                <a:ea typeface="PingFang SC"/>
              </a:rPr>
              <a:t>未开始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11311" y="2697480"/>
            <a:ext cx="3246121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8229600" y="2880360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12480" y="2816352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按业务流规划改造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229600" y="3172968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12480" y="3108960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确定性配方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29600" y="3465575"/>
            <a:ext cx="100584" cy="1005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412480" y="3401568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新旧行为对比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3758184"/>
            <a:ext cx="100584" cy="100584"/>
          </a:xfrm>
          <a:prstGeom prst="rect">
            <a:avLst/>
          </a:prstGeom>
          <a:solidFill>
            <a:srgbClr val="8EA6DA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0" y="3694176"/>
            <a:ext cx="3063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改造进度看板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8211311" y="4800600"/>
            <a:ext cx="3246121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61" name="TextBox 60"/>
          <p:cNvSpPr txBox="1"/>
          <p:nvPr/>
        </p:nvSpPr>
        <p:spPr>
          <a:xfrm>
            <a:off x="8211311" y="4873752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1">
                <a:solidFill>
                  <a:srgbClr val="141414"/>
                </a:solidFill>
                <a:latin typeface="Helvetica Neue"/>
                <a:ea typeface="PingFang SC"/>
              </a:rPr>
              <a:t>过关：</a:t>
            </a:r>
            <a:r>
              <a:rPr sz="1000" b="0">
                <a:solidFill>
                  <a:srgbClr val="2B2B2B"/>
                </a:solidFill>
                <a:latin typeface="Helvetica Neue"/>
                <a:ea typeface="PingFang SC"/>
              </a:rPr>
              <a:t>一个老项目按看板完成一个业务域的翻新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6B6B6B"/>
                </a:solidFill>
                <a:latin typeface="Helvetica Neue"/>
                <a:ea typeface="PingFang SC"/>
              </a:rPr>
              <a:t>其余功能按试点项目的实际需要安排。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度量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提效只看三类数：答复更快、交付更快、少找人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1" cy="3200400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828800"/>
                <a:gridCol w="3977639"/>
                <a:gridCol w="1280160"/>
                <a:gridCol w="1371600"/>
                <a:gridCol w="2633472"/>
              </a:tblGrid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指标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定义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口径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主指标所在期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现在能采吗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答复时长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需求人员提问到拿到可行性结论的时间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答复更快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自动答复采纳率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自动答复未被开发推翻的比例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少找人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找开发次数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每周转人工的提问数，对比上线前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少找人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一期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能，需上线前基线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工单周期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从提出到验收通过，对比 Jira / 禅道基线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二期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能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无人化占比与退回率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自动跑完的工单数及其验收退回比例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二期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待建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改造完成度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已改造并通过新旧对比的业务流占比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交付更快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三期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待建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4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全部从流程中自动采集，无需额外填报。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120640"/>
            <a:ext cx="11091672" cy="1005840"/>
          </a:xfrm>
          <a:prstGeom prst="rect">
            <a:avLst/>
          </a:prstGeom>
          <a:solidFill>
            <a:srgbClr val="F3F2EE"/>
          </a:solidFill>
          <a:ln>
            <a:noFill/>
          </a:ln>
          <a:effectLst/>
        </p:spPr>
        <p:txBody>
          <a:bodyPr rtlCol="0" anchor="ctr" lIns="54864" rIns="54864" tIns="27432" bIns="27432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166360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速度与返工并列报告：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AI 采用率每提高 25%，交付稳定性下降 7.2% [13]。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50" b="1">
                <a:solidFill>
                  <a:srgbClr val="141414"/>
                </a:solidFill>
                <a:latin typeface="Helvetica Neue"/>
                <a:ea typeface="PingFang SC"/>
              </a:rPr>
              <a:t>基线：</a:t>
            </a:r>
            <a:r>
              <a:rPr sz="1050" b="0">
                <a:solidFill>
                  <a:srgbClr val="2B2B2B"/>
                </a:solidFill>
                <a:latin typeface="Helvetica Neue"/>
                <a:ea typeface="PingFang SC"/>
              </a:rPr>
              <a:t>以试点项目过去 3～6 个月的工单历史为准。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548640" y="6455664"/>
            <a:ext cx="10241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6B6B6B"/>
                </a:solidFill>
                <a:latin typeface="Helvetica Neue"/>
                <a:ea typeface="PingFang SC"/>
              </a:rPr>
              <a:t>[13] DORA 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局限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已验证能抽取、能定位、能闭环；真实环境的效果待试点验证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463040"/>
          <a:ext cx="11091672" cy="3621024"/>
        </p:xfrm>
        <a:graphic>
          <a:graphicData uri="http://schemas.openxmlformats.org/drawingml/2006/table">
            <a:tbl>
              <a:tblPr firstRow="0" bandRow="0" firstCol="0" lastRow="0" lastCol="0" bandCol="0">
                <a:tableStyleId>{2D5ABB26-0587-4C30-8999-92F81FD0307C}</a:tableStyleId>
              </a:tblPr>
              <a:tblGrid>
                <a:gridCol w="1508760"/>
                <a:gridCol w="4206240"/>
                <a:gridCol w="5376672"/>
              </a:tblGrid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方面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已验证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6B6B6B"/>
                          </a:solidFill>
                          <a:latin typeface="Helvetica Neue"/>
                          <a:ea typeface="PingFang SC"/>
                        </a:rPr>
                        <a:t>待验证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rgbClr val="141414"/>
                      </a:solidFill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模型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主流编程助手上跑通全流程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D9622B"/>
                          </a:solidFill>
                          <a:latin typeface="Helvetica Neue"/>
                          <a:ea typeface="PingFang SC"/>
                        </a:rPr>
                        <a:t>国产模型的撰写质量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外部系统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工单系统与群机器人在模拟环境测试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D9622B"/>
                          </a:solidFill>
                          <a:latin typeface="Helvetica Neue"/>
                          <a:ea typeface="PingFang SC"/>
                        </a:rPr>
                        <a:t>真实工单系统与群聊联调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规模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55 万行项目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D9622B"/>
                          </a:solidFill>
                          <a:latin typeface="Helvetica Neue"/>
                          <a:ea typeface="PingFang SC"/>
                        </a:rPr>
                        <a:t>更多项目；定位命中率样本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知识正确性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事实可核对到代码行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D9622B"/>
                          </a:solidFill>
                          <a:latin typeface="Helvetica Neue"/>
                          <a:ea typeface="PingFang SC"/>
                        </a:rPr>
                        <a:t>人工确认；反编译代码与线上版本核对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D6D5CF"/>
                      </a:solidFill>
                    </a:lnB>
                    <a:noFill/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度量</a:t>
                      </a:r>
                    </a:p>
                  </a:txBody>
                  <a:tcPr marL="0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2B2B2B"/>
                          </a:solidFill>
                          <a:latin typeface="Helvetica Neue"/>
                          <a:ea typeface="PingFang SC"/>
                        </a:rPr>
                        <a:t>指标可从流程采集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050" b="0">
                          <a:solidFill>
                            <a:srgbClr val="D9622B"/>
                          </a:solidFill>
                          <a:latin typeface="Helvetica Neue"/>
                          <a:ea typeface="PingFang SC"/>
                        </a:rPr>
                        <a:t>带基线的实测提效数据</a:t>
                      </a:r>
                    </a:p>
                  </a:txBody>
                  <a:tcPr marL="54864" marR="54864" marT="36576" marB="36576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>
                      <a:solidFill>
                        <a:srgbClr val="14141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257800"/>
            <a:ext cx="11064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141414"/>
                </a:solidFill>
                <a:latin typeface="Helvetica Neue"/>
                <a:ea typeface="PingFang SC"/>
              </a:rPr>
              <a:t>表 5  </a:t>
            </a:r>
            <a:r>
              <a:rPr sz="850" b="0">
                <a:solidFill>
                  <a:srgbClr val="6B6B6B"/>
                </a:solidFill>
                <a:latin typeface="Helvetica Neue"/>
                <a:ea typeface="PingFang SC"/>
              </a:rPr>
              <a:t>由第一个试点回答。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试点需要确认三件事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50876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548640" y="1645919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4AA8"/>
                </a:solidFill>
                <a:latin typeface="Helvetica Neue"/>
                <a:ea typeface="PingFang S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试点范围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91639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Helvetica Neue"/>
                <a:ea typeface="PingFang SC"/>
              </a:rPr>
              <a:t>选定一个项目，以及若干高频业务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0" y="213055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先运行 4 周得到基线，再定过关标准。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2834639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548640" y="2971799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4AA8"/>
                </a:solidFill>
                <a:latin typeface="Helvetica Neue"/>
                <a:ea typeface="PingFang S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0175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接入渠道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301752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Helvetica Neue"/>
                <a:ea typeface="PingFang SC"/>
              </a:rPr>
              <a:t>钉钉、飞书、企业微信，先接哪一个？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345643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三种接口均已具备，选一个在真实群聊中联调。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416052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548640" y="4297680"/>
            <a:ext cx="548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1F4AA8"/>
                </a:solidFill>
                <a:latin typeface="Helvetica Neue"/>
                <a:ea typeface="PingFang S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41414"/>
                </a:solidFill>
                <a:latin typeface="Helvetica Neue"/>
                <a:ea typeface="PingFang SC"/>
              </a:rPr>
              <a:t>业务确认人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4343400"/>
            <a:ext cx="7589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1414"/>
                </a:solidFill>
                <a:latin typeface="Helvetica Neue"/>
                <a:ea typeface="PingFang SC"/>
              </a:rPr>
              <a:t>每个业务域指定一位确认人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4782312"/>
            <a:ext cx="7589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6B6B6B"/>
                </a:solidFill>
                <a:latin typeface="Helvetica Neue"/>
                <a:ea typeface="PingFang SC"/>
              </a:rPr>
              <a:t>知识页经确认后，才用于直接答复。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54864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4AA8"/>
                </a:solidFill>
                <a:latin typeface="Helvetica Neue"/>
                <a:ea typeface="PingFang SC"/>
              </a:rPr>
              <a:t>参考文献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347472"/>
            <a:ext cx="523951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A0A0A0"/>
                </a:solidFill>
                <a:latin typeface="Helvetica Neue"/>
                <a:ea typeface="PingFang SC"/>
              </a:rPr>
              <a:t>老项目运维提效 · 立项汇报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41414"/>
                </a:solidFill>
                <a:latin typeface="Helvetica Neue"/>
                <a:ea typeface="PingFang SC"/>
              </a:rP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[1] Xia 等. Measuring Program Comprehension. ICSE 2018.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[2] Stack Overflow. 2024 Developer Survey insights.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[3] Gloria Mark 的打断研究，经 Fast Company 报道.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[4] Avelino 等. Truck factor. arXiv 1604.06766.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[5] METR. Early-2025 AI on experienced OS devs. 2025-07.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[6] METR. Uplift update. 2026-02.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[7] Meta Engineering. Map tribal knowledge in data pipelines. 2026-04.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[8] The Register. Gartner mainframe exit analysis. 2026-04.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[9] Uber. Genie: Gen AI on-call copilot.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[10] Consortium for Service Innovation. KCS v6.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[11] Alshahwan 等. TestGen-LLM. arXiv 2402.09171.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[12] GitHub. Scientist: move fast and fix things.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1417320"/>
            <a:ext cx="5486400" cy="4754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[13] Google Cloud. DORA 2024 report.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[14] GitHub. Agentic memory for Copilot. 2026-01.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[15] Moderne. Gartner MQ Leader 新闻稿. 2026-08-05.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[16] Sourcegraph. Agentic Batch Changes public beta. 2026-06.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[17] Codemod 官网与 Express 5 迁移指南.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[18] InfoQ. CodeScene agentic refactoring case. 2026-09.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[19] vFunction. Power for Kiro. 2026.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[20] typesafe.ai. Introducing System One models and Jev.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[21] Gartner Peer Community. 回归测试手工占比投票.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[22] Microsoft. RCACopilot. arXiv 2305.15778.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[23] Martin Fowler. Strangler Fig Application.</a:t>
            </a: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950" b="0">
                <a:solidFill>
                  <a:srgbClr val="2B2B2B"/>
                </a:solidFill>
                <a:latin typeface="Helvetica Neue"/>
                <a:ea typeface="PingFang SC"/>
              </a:rPr>
              <a:t>[24] RepoDoc. arXiv 2604.26523.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D6D5C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10881360" y="6455664"/>
            <a:ext cx="7589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A0A0A0"/>
                </a:solidFill>
                <a:latin typeface="Helvetica Neue"/>
                <a:ea typeface="PingFang SC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