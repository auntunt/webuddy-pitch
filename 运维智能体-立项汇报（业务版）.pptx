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17320"/>
            <a:ext cx="73152" cy="192024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25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4AA8"/>
                </a:solidFill>
                <a:latin typeface="Helvetica Neue"/>
                <a:ea typeface="PingFang SC"/>
              </a:rPr>
              <a:t>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41414"/>
                </a:solidFill>
                <a:latin typeface="Helvetica Neue"/>
                <a:ea typeface="PingFang SC"/>
              </a:rPr>
              <a:t>运维智能体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B2B2B"/>
                </a:solidFill>
                <a:latin typeface="Helvetica Neue"/>
                <a:ea typeface="PingFang SC"/>
              </a:rPr>
              <a:t>一套底座，多种维保服务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Helvetica Neue"/>
                <a:ea typeface="PingFang SC"/>
              </a:rPr>
              <a:t>Li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Helvetica Neue"/>
                <a:ea typeface="PingFang SC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运维智能体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把老项目维保做成五项可交付的服务，由一组分工明确的智能体完成，人只在关键处确认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2B2B2B"/>
                </a:solidFill>
                <a:latin typeface="Helvetica Neue"/>
                <a:ea typeface="PingFang SC"/>
              </a:rPr>
              <a:t>老项目交付之后，维保的成本主要花在找人问、读代码和不敢改上，而不是写代码本身。通用编程助手擅长写新代码，却不了解客户的业务。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2B2B2B"/>
                </a:solidFill>
                <a:latin typeface="Helvetica Neue"/>
                <a:ea typeface="PingFang SC"/>
              </a:rPr>
              <a:t>运维智能体分三层：底层是从代码梳理出的代码知识库，中间是一套编码智能体按工单流程接力，受理、定位、规划、修改、验证，最后交人验收；上层是客户看到的各项服务。每张工单先评估影响，再决定智能体做到哪一步，人在哪一步确认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2B2B2B"/>
                </a:solidFill>
                <a:latin typeface="Helvetica Neue"/>
                <a:ea typeface="PingFang SC"/>
              </a:rPr>
              <a:t>在一个约 55 万行、98% 来自反编译的财务共享平台上，一句中文需求约 5 秒定位到代码。需求答复已经完成，下一步是真实项目试点。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1417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B6B6B"/>
                </a:solidFill>
                <a:latin typeface="Helvetica Neue"/>
                <a:ea typeface="PingFang SC"/>
              </a:rPr>
              <a:t>对客户的三点承诺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1783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F4AA8"/>
                </a:solidFill>
                <a:latin typeface="Helvetica Neue"/>
                <a:ea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8013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414"/>
                </a:solidFill>
                <a:latin typeface="Helvetica Neue"/>
                <a:ea typeface="PingFang SC"/>
              </a:rPr>
              <a:t>答得快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093976"/>
            <a:ext cx="4069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需求人员在群里提问，当场得到能不能做的结论和依据。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743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F4AA8"/>
                </a:solidFill>
                <a:latin typeface="Helvetica Neue"/>
                <a:ea typeface="PingFang S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6148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414"/>
                </a:solidFill>
                <a:latin typeface="Helvetica Neue"/>
                <a:ea typeface="PingFang SC"/>
              </a:rPr>
              <a:t>改得稳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3054096"/>
            <a:ext cx="4069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每次改动先评估影响、再验证，停在人工验收，主干由人合入。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3703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F4AA8"/>
                </a:solidFill>
                <a:latin typeface="Helvetica Neue"/>
                <a:ea typeface="PingFang S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721607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414"/>
                </a:solidFill>
                <a:latin typeface="Helvetica Neue"/>
                <a:ea typeface="PingFang SC"/>
              </a:rPr>
              <a:t>看得见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4014215"/>
            <a:ext cx="4069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提效和翻新进度从流程里自动统计，不靠填报。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498348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548640" y="51206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F4AA8"/>
                </a:solidFill>
                <a:latin typeface="Helvetica Neue"/>
                <a:ea typeface="PingFang S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类维保服务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46704" y="51206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F4AA8"/>
                </a:solidFill>
                <a:latin typeface="Helvetica Neue"/>
                <a:ea typeface="PingFang SC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6704" y="56692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步编排，人工验收收口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51206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F4AA8"/>
                </a:solidFill>
                <a:latin typeface="Helvetica Neue"/>
                <a:ea typeface="PingFang SC"/>
              </a:rPr>
              <a:t>约 5 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6692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一句中文需求定位到代码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51206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F4AA8"/>
                </a:solidFill>
                <a:latin typeface="Helvetica Neue"/>
                <a:ea typeface="PingFang S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2832" y="56692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级自动化，按风险选择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运维智能体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维保的成本在“读懂”和“被打断”，不在“改”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00200"/>
            <a:ext cx="2560320" cy="0"/>
          </a:xfrm>
          <a:prstGeom prst="line">
            <a:avLst/>
          </a:prstGeom>
          <a:ln w="12700">
            <a:solidFill>
              <a:srgbClr val="141414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48640" y="173736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F4AA8"/>
                </a:solidFill>
                <a:latin typeface="Helvetica Neue"/>
                <a:ea typeface="PingFang SC"/>
              </a:rPr>
              <a:t>58%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141414"/>
                </a:solidFill>
                <a:latin typeface="Helvetica Neue"/>
                <a:ea typeface="PingFang SC"/>
              </a:rPr>
              <a:t>开发时间花在理解代码上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78 名开发、3,148 工时的现场观测 </a:t>
            </a:r>
            <a:r>
              <a:rPr sz="1000" b="0">
                <a:solidFill>
                  <a:srgbClr val="A0A0A0"/>
                </a:solidFill>
                <a:latin typeface="Helvetica Neue"/>
                <a:ea typeface="PingFang SC"/>
              </a:rPr>
              <a:t>[1]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46704" y="1600200"/>
            <a:ext cx="2560320" cy="0"/>
          </a:xfrm>
          <a:prstGeom prst="line">
            <a:avLst/>
          </a:prstGeom>
          <a:ln w="12700">
            <a:solidFill>
              <a:srgbClr val="141414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3346704" y="173736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F4AA8"/>
                </a:solidFill>
                <a:latin typeface="Helvetica Neue"/>
                <a:ea typeface="PingFang SC"/>
              </a:rPr>
              <a:t>47%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251460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141414"/>
                </a:solidFill>
                <a:latin typeface="Helvetica Neue"/>
                <a:ea typeface="PingFang SC"/>
              </a:rPr>
              <a:t>的开发每天至少花 30 分钟回答别人的问题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6704" y="324612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75% 重复回答过同一个问题 </a:t>
            </a:r>
            <a:r>
              <a:rPr sz="1000" b="0">
                <a:solidFill>
                  <a:srgbClr val="A0A0A0"/>
                </a:solidFill>
                <a:latin typeface="Helvetica Neue"/>
                <a:ea typeface="PingFang SC"/>
              </a:rPr>
              <a:t>[2]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44768" y="1600200"/>
            <a:ext cx="2560320" cy="0"/>
          </a:xfrm>
          <a:prstGeom prst="line">
            <a:avLst/>
          </a:prstGeom>
          <a:ln w="12700">
            <a:solidFill>
              <a:srgbClr val="141414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144768" y="173736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F4AA8"/>
                </a:solidFill>
                <a:latin typeface="Helvetica Neue"/>
                <a:ea typeface="PingFang SC"/>
              </a:rPr>
              <a:t>23 分钟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251460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141414"/>
                </a:solidFill>
                <a:latin typeface="Helvetica Neue"/>
                <a:ea typeface="PingFang SC"/>
              </a:rPr>
              <a:t>被打断后回到原任务的平均时间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324612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需求人员每问一次开发，都有这笔代价 </a:t>
            </a:r>
            <a:r>
              <a:rPr sz="1000" b="0">
                <a:solidFill>
                  <a:srgbClr val="A0A0A0"/>
                </a:solidFill>
                <a:latin typeface="Helvetica Neue"/>
                <a:ea typeface="PingFang SC"/>
              </a:rPr>
              <a:t>[3]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42832" y="1600200"/>
            <a:ext cx="2560319" cy="0"/>
          </a:xfrm>
          <a:prstGeom prst="line">
            <a:avLst/>
          </a:prstGeom>
          <a:ln w="12700">
            <a:solidFill>
              <a:srgbClr val="141414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8942832" y="173736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F4AA8"/>
                </a:solidFill>
                <a:latin typeface="Helvetica Neue"/>
                <a:ea typeface="PingFang SC"/>
              </a:rPr>
              <a:t>65%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251460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141414"/>
                </a:solidFill>
                <a:latin typeface="Helvetica Neue"/>
                <a:ea typeface="PingFang SC"/>
              </a:rPr>
              <a:t>的热门开源项目走掉 1 到 2 个人就陷入危机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324612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知识集中在少数人身上 </a:t>
            </a:r>
            <a:r>
              <a:rPr sz="1000" b="0">
                <a:solidFill>
                  <a:srgbClr val="A0A0A0"/>
                </a:solidFill>
                <a:latin typeface="Helvetica Neue"/>
                <a:ea typeface="PingFang SC"/>
              </a:rPr>
              <a:t>[4]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43400"/>
            <a:ext cx="11091672" cy="169164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98848"/>
            <a:ext cx="10698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1">
                <a:solidFill>
                  <a:srgbClr val="141414"/>
                </a:solidFill>
                <a:latin typeface="Helvetica Neue"/>
                <a:ea typeface="PingFang SC"/>
              </a:rPr>
              <a:t>对维保意味着什么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>
                <a:solidFill>
                  <a:srgbClr val="2B2B2B"/>
                </a:solidFill>
                <a:latin typeface="Helvetica Neue"/>
                <a:ea typeface="PingFang SC"/>
              </a:rPr>
              <a:t>老项目的代码老、文档缺、原作者多半不在。每张工单的大部分时间花在“找到该改哪里、搞清楚业务为什么这样”，而需求和实施人员判断“能不能做”也只能去问开发。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>
                <a:solidFill>
                  <a:srgbClr val="2B2B2B"/>
                </a:solidFill>
                <a:latin typeface="Helvetica Neue"/>
                <a:ea typeface="PingFang SC"/>
              </a:rPr>
              <a:t>所以提效的抓手不是“写代码更快”，而是让业务知识不再只存在于人脑里。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54864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6B6B"/>
                </a:solidFill>
                <a:latin typeface="Helvetica Neue"/>
                <a:ea typeface="PingFang SC"/>
              </a:rPr>
              <a:t>[1] Xia 等, ICSE 2018   [2] Stack Overflow 开发者调查 2024   [3] Gloria Mark，经 Fast Company   [4] arXiv 1604.06766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运维智能体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一线抱怨集中在“知识只在人脑子里”和“不敢改”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2" cy="402336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103120"/>
                <a:gridCol w="7708392"/>
                <a:gridCol w="128016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痛点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一线怎么说（转述）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来源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知识只在人脑子里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问报表字段怎么算，经理只说“自己看代码”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V2EX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交接断档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离职同事一次交接 11 个项目，无文档无注释，最后一周才安排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V2EX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不敢改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花两周修好的金额精度 bug，被 AI 重构“简化”回去，单测全过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V2EX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承诺先于评估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售前很难判断方案能不能落地，只能去问技术，否则容易乱报价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V2EX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交付后边界模糊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客户借“维护”提新功能，还要 7×24 随叫随到，年费又低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V2EX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线上定位慢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开发没有生产日志和库权限，只能请人导数据回测试环境调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V2EX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重写失控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亲历的推倒重来没有一次成功，渐进迁移又要新旧双改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V2EX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信创踩坑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达梦大小写敏感只能安装时定；同一函数 Oracle 30 秒、达梦 3 小时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V2EX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AI 带来的新问题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AI 写的代码连作者都讲不清，同事来问只能再转给 AI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linux.do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复制粘贴式交付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每个客户复制一份源码，修复不会同步到其他客户的分叉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博客园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5778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1414"/>
                </a:solidFill>
                <a:latin typeface="Helvetica Neue"/>
                <a:ea typeface="PingFang SC"/>
              </a:rPr>
              <a:t>表 1  </a:t>
            </a: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从 36 条公开的一线讨论中每类选一条，为定性证据。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运维智能体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一套底座，多种服务：上层五项服务共用同一套编码智能体和代码知识库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371600" cy="1188720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业务应用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44368"/>
            <a:ext cx="1371600" cy="1645920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智能体编排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892040"/>
            <a:ext cx="1371600" cy="868680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代码知识库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325880"/>
            <a:ext cx="38862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8EA6DA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12848" y="1389888"/>
            <a:ext cx="36667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AA8"/>
                </a:solidFill>
                <a:latin typeface="Helvetica Neue"/>
                <a:ea typeface="PingFang SC"/>
              </a:rPr>
              <a:t>运维服务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1691640"/>
            <a:ext cx="118567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1764792"/>
            <a:ext cx="1185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需求答复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093976"/>
            <a:ext cx="1185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6B6B6B"/>
                </a:solidFill>
                <a:latin typeface="Helvetica Neue"/>
                <a:ea typeface="PingFang SC"/>
              </a:rPr>
              <a:t>能不能做 · 多久能做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3383" y="1691640"/>
            <a:ext cx="118567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3383" y="1764792"/>
            <a:ext cx="1185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日常维护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3383" y="2093976"/>
            <a:ext cx="1185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6B6B6B"/>
                </a:solidFill>
                <a:latin typeface="Helvetica Neue"/>
                <a:ea typeface="PingFang SC"/>
              </a:rPr>
              <a:t>故障定位 · 缺陷修复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12208" y="1691640"/>
            <a:ext cx="118567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2208" y="1764792"/>
            <a:ext cx="1185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功能扩展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2208" y="2093976"/>
            <a:ext cx="1185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6B6B6B"/>
                </a:solidFill>
                <a:latin typeface="Helvetica Neue"/>
                <a:ea typeface="PingFang SC"/>
              </a:rPr>
              <a:t>功能开发 · 接口集成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32588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8EA6DA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1389888"/>
            <a:ext cx="2386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AA8"/>
                </a:solidFill>
                <a:latin typeface="Helvetica Neue"/>
                <a:ea typeface="PingFang SC"/>
              </a:rPr>
              <a:t>重构服务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91640"/>
            <a:ext cx="1175004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764792"/>
            <a:ext cx="11750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系统重构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093976"/>
            <a:ext cx="11750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6B6B6B"/>
                </a:solidFill>
                <a:latin typeface="Helvetica Neue"/>
                <a:ea typeface="PingFang SC"/>
              </a:rPr>
              <a:t>业务域拆分 · 分批推进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66075" y="1691640"/>
            <a:ext cx="1175004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66075" y="1764792"/>
            <a:ext cx="11750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系统升级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6075" y="2093976"/>
            <a:ext cx="11750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6B6B6B"/>
                </a:solidFill>
                <a:latin typeface="Helvetica Neue"/>
                <a:ea typeface="PingFang SC"/>
              </a:rPr>
              <a:t>依赖升级 · 信创适配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1325880"/>
            <a:ext cx="2194560" cy="1188720"/>
          </a:xfrm>
          <a:prstGeom prst="roundRect">
            <a:avLst>
              <a:gd name="adj" fmla="val 12000"/>
            </a:avLst>
          </a:prstGeom>
          <a:solidFill>
            <a:srgbClr val="F3F2EE"/>
          </a:solidFill>
          <a:ln w="11430">
            <a:solidFill>
              <a:srgbClr val="D6D5CF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79407" y="1389888"/>
            <a:ext cx="19751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B6B6B"/>
                </a:solidFill>
                <a:latin typeface="Helvetica Neue"/>
                <a:ea typeface="PingFang SC"/>
              </a:rPr>
              <a:t>可扩展服务（规划）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19" y="1691640"/>
            <a:ext cx="621791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19" y="1691640"/>
            <a:ext cx="621791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工单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获取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56063" y="1691640"/>
            <a:ext cx="621791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56063" y="1691640"/>
            <a:ext cx="621791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会议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纪要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51007" y="1691640"/>
            <a:ext cx="621791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51007" y="1691640"/>
            <a:ext cx="621791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报价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评估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046220" y="2514600"/>
            <a:ext cx="0" cy="146304"/>
          </a:xfrm>
          <a:prstGeom prst="line">
            <a:avLst/>
          </a:prstGeom>
          <a:ln w="12700">
            <a:solidFill>
              <a:srgbClr val="8EA6DA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7429500" y="2514600"/>
            <a:ext cx="0" cy="146304"/>
          </a:xfrm>
          <a:prstGeom prst="line">
            <a:avLst/>
          </a:prstGeom>
          <a:ln w="12700">
            <a:solidFill>
              <a:srgbClr val="8EA6DA"/>
            </a:solidFill>
          </a:ln>
        </p:spPr>
      </p:cxnSp>
      <p:cxnSp>
        <p:nvCxnSpPr>
          <p:cNvPr id="37" name="Connector 36"/>
          <p:cNvCxnSpPr/>
          <p:nvPr/>
        </p:nvCxnSpPr>
        <p:spPr>
          <a:xfrm>
            <a:off x="9966959" y="2514600"/>
            <a:ext cx="0" cy="146304"/>
          </a:xfrm>
          <a:prstGeom prst="line">
            <a:avLst/>
          </a:prstGeom>
          <a:ln w="12700">
            <a:solidFill>
              <a:srgbClr val="8EA6DA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4046220" y="2660904"/>
            <a:ext cx="5920739" cy="0"/>
          </a:xfrm>
          <a:prstGeom prst="line">
            <a:avLst/>
          </a:prstGeom>
          <a:ln w="12700">
            <a:solidFill>
              <a:srgbClr val="8EA6DA"/>
            </a:solidFill>
          </a:ln>
        </p:spPr>
      </p:cxnSp>
      <p:cxnSp>
        <p:nvCxnSpPr>
          <p:cNvPr id="39" name="Connector 38"/>
          <p:cNvCxnSpPr/>
          <p:nvPr/>
        </p:nvCxnSpPr>
        <p:spPr>
          <a:xfrm>
            <a:off x="6583680" y="2660904"/>
            <a:ext cx="0" cy="283464"/>
          </a:xfrm>
          <a:prstGeom prst="line">
            <a:avLst/>
          </a:prstGeom>
          <a:ln w="12700">
            <a:solidFill>
              <a:srgbClr val="1F4AA8"/>
            </a:solidFill>
            <a:tailEnd type="triangle" w="med" len="med"/>
          </a:ln>
        </p:spPr>
      </p:cxnSp>
      <p:sp>
        <p:nvSpPr>
          <p:cNvPr id="40" name="TextBox 39"/>
          <p:cNvSpPr txBox="1"/>
          <p:nvPr/>
        </p:nvSpPr>
        <p:spPr>
          <a:xfrm>
            <a:off x="6656832" y="2679192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1F4AA8"/>
                </a:solidFill>
                <a:latin typeface="Helvetica Neue"/>
                <a:ea typeface="PingFang SC"/>
              </a:rPr>
              <a:t>提交任务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03120" y="2944368"/>
            <a:ext cx="8961120" cy="1645920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0" y="301752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  <a:ea typeface="PingFang SC"/>
              </a:rPr>
              <a:t>编码智能体编排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40279" y="3364992"/>
            <a:ext cx="129540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40279" y="3493008"/>
            <a:ext cx="1295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任务受理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40279" y="3840480"/>
            <a:ext cx="1295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关联业务与代码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563111" y="3813048"/>
            <a:ext cx="128016" cy="0"/>
          </a:xfrm>
          <a:prstGeom prst="line">
            <a:avLst/>
          </a:prstGeom>
          <a:ln w="15875">
            <a:solidFill>
              <a:srgbClr val="DCE4F5"/>
            </a:solidFill>
            <a:tailEnd type="triangle" w="med" len="med"/>
          </a:ln>
        </p:spPr>
      </p:cxnSp>
      <p:sp>
        <p:nvSpPr>
          <p:cNvPr id="47" name="Rounded Rectangle 46"/>
          <p:cNvSpPr/>
          <p:nvPr/>
        </p:nvSpPr>
        <p:spPr>
          <a:xfrm>
            <a:off x="3718560" y="3364992"/>
            <a:ext cx="129540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18560" y="3493008"/>
            <a:ext cx="1295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问题定位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18560" y="3840480"/>
            <a:ext cx="1295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找到相关代码位置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041392" y="3813048"/>
            <a:ext cx="128016" cy="0"/>
          </a:xfrm>
          <a:prstGeom prst="line">
            <a:avLst/>
          </a:prstGeom>
          <a:ln w="15875">
            <a:solidFill>
              <a:srgbClr val="DCE4F5"/>
            </a:solidFill>
            <a:tailEnd type="triangle" w="med" len="med"/>
          </a:ln>
        </p:spPr>
      </p:cxnSp>
      <p:sp>
        <p:nvSpPr>
          <p:cNvPr id="51" name="Rounded Rectangle 50"/>
          <p:cNvSpPr/>
          <p:nvPr/>
        </p:nvSpPr>
        <p:spPr>
          <a:xfrm>
            <a:off x="5196840" y="3364992"/>
            <a:ext cx="129540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96840" y="3493008"/>
            <a:ext cx="1295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方案规划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96840" y="3840480"/>
            <a:ext cx="1295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拆分改动与步骤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519672" y="3813048"/>
            <a:ext cx="128016" cy="0"/>
          </a:xfrm>
          <a:prstGeom prst="line">
            <a:avLst/>
          </a:prstGeom>
          <a:ln w="15875">
            <a:solidFill>
              <a:srgbClr val="DCE4F5"/>
            </a:solidFill>
            <a:tailEnd type="triangle" w="med" len="med"/>
          </a:ln>
        </p:spPr>
      </p:cxnSp>
      <p:sp>
        <p:nvSpPr>
          <p:cNvPr id="55" name="Rounded Rectangle 54"/>
          <p:cNvSpPr/>
          <p:nvPr/>
        </p:nvSpPr>
        <p:spPr>
          <a:xfrm>
            <a:off x="6675119" y="3364992"/>
            <a:ext cx="129540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75119" y="3493008"/>
            <a:ext cx="1295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开发执行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75119" y="3840480"/>
            <a:ext cx="1295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按文件分工改代码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997951" y="3813048"/>
            <a:ext cx="128016" cy="0"/>
          </a:xfrm>
          <a:prstGeom prst="line">
            <a:avLst/>
          </a:prstGeom>
          <a:ln w="15875">
            <a:solidFill>
              <a:srgbClr val="DCE4F5"/>
            </a:solidFill>
            <a:tailEnd type="triangle" w="med" len="med"/>
          </a:ln>
        </p:spPr>
      </p:cxnSp>
      <p:sp>
        <p:nvSpPr>
          <p:cNvPr id="59" name="Rounded Rectangle 58"/>
          <p:cNvSpPr/>
          <p:nvPr/>
        </p:nvSpPr>
        <p:spPr>
          <a:xfrm>
            <a:off x="8153399" y="3364992"/>
            <a:ext cx="129540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53399" y="3493008"/>
            <a:ext cx="1295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验证审查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53399" y="3840480"/>
            <a:ext cx="1295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构建测试与诊断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476231" y="3813048"/>
            <a:ext cx="128016" cy="0"/>
          </a:xfrm>
          <a:prstGeom prst="line">
            <a:avLst/>
          </a:prstGeom>
          <a:ln w="15875">
            <a:solidFill>
              <a:srgbClr val="DCE4F5"/>
            </a:solidFill>
            <a:tailEnd type="triangle" w="med" len="med"/>
          </a:ln>
        </p:spPr>
      </p:cxnSp>
      <p:sp>
        <p:nvSpPr>
          <p:cNvPr id="63" name="Rounded Rectangle 62"/>
          <p:cNvSpPr/>
          <p:nvPr/>
        </p:nvSpPr>
        <p:spPr>
          <a:xfrm>
            <a:off x="9631680" y="3364992"/>
            <a:ext cx="129540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31680" y="3493008"/>
            <a:ext cx="1295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人工验收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31680" y="3840480"/>
            <a:ext cx="1295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通过交付 · 退回重改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03120" y="4315968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DCE4F5"/>
                </a:solidFill>
                <a:latin typeface="Helvetica Neue"/>
                <a:ea typeface="PingFang SC"/>
              </a:rPr>
              <a:t>独立分支修改  ·  退回自动重改  ·  人可随时接手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583680" y="4590288"/>
            <a:ext cx="0" cy="301752"/>
          </a:xfrm>
          <a:prstGeom prst="line">
            <a:avLst/>
          </a:prstGeom>
          <a:ln w="12700">
            <a:solidFill>
              <a:srgbClr val="1F4AA8"/>
            </a:solidFill>
            <a:tailEnd type="triangle" w="med" len="med"/>
          </a:ln>
        </p:spPr>
      </p:cxnSp>
      <p:sp>
        <p:nvSpPr>
          <p:cNvPr id="68" name="TextBox 67"/>
          <p:cNvSpPr txBox="1"/>
          <p:nvPr/>
        </p:nvSpPr>
        <p:spPr>
          <a:xfrm>
            <a:off x="6675120" y="464515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1F4AA8"/>
                </a:solidFill>
                <a:latin typeface="Helvetica Neue"/>
                <a:ea typeface="PingFang SC"/>
              </a:rPr>
              <a:t>读取项目知识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103120" y="4892040"/>
            <a:ext cx="8961120" cy="868680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0" y="5020055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Helvetica Neue"/>
                <a:ea typeface="PingFang SC"/>
              </a:rPr>
              <a:t>业务地图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03120" y="5376672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业务域 · 业务流 · 数据表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43400" y="5020055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Helvetica Neue"/>
                <a:ea typeface="PingFang SC"/>
              </a:rPr>
              <a:t>代码证据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43400" y="5376672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入口 · 调用链 · 文件行号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343400" y="5056631"/>
            <a:ext cx="0" cy="539497"/>
          </a:xfrm>
          <a:prstGeom prst="line">
            <a:avLst/>
          </a:prstGeom>
          <a:ln w="9525">
            <a:solidFill>
              <a:srgbClr val="8EA6DA"/>
            </a:solidFill>
          </a:ln>
        </p:spPr>
      </p:cxnSp>
      <p:sp>
        <p:nvSpPr>
          <p:cNvPr id="75" name="TextBox 74"/>
          <p:cNvSpPr txBox="1"/>
          <p:nvPr/>
        </p:nvSpPr>
        <p:spPr>
          <a:xfrm>
            <a:off x="6583680" y="5020055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Helvetica Neue"/>
                <a:ea typeface="PingFang SC"/>
              </a:rPr>
              <a:t>项目知识页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5376672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人工确认 · 持续更新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583680" y="5056631"/>
            <a:ext cx="0" cy="539497"/>
          </a:xfrm>
          <a:prstGeom prst="line">
            <a:avLst/>
          </a:prstGeom>
          <a:ln w="9525">
            <a:solidFill>
              <a:srgbClr val="8EA6DA"/>
            </a:solidFill>
          </a:ln>
        </p:spPr>
      </p:cxnSp>
      <p:sp>
        <p:nvSpPr>
          <p:cNvPr id="78" name="TextBox 77"/>
          <p:cNvSpPr txBox="1"/>
          <p:nvPr/>
        </p:nvSpPr>
        <p:spPr>
          <a:xfrm>
            <a:off x="8823960" y="5020055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Helvetica Neue"/>
                <a:ea typeface="PingFang SC"/>
              </a:rPr>
              <a:t>本地离线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23960" y="5376672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代码不出内网 · 支持国产模型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8823960" y="5056631"/>
            <a:ext cx="0" cy="539497"/>
          </a:xfrm>
          <a:prstGeom prst="line">
            <a:avLst/>
          </a:prstGeom>
          <a:ln w="9525">
            <a:solidFill>
              <a:srgbClr val="8EA6DA"/>
            </a:solidFill>
          </a:ln>
        </p:spPr>
      </p:cxnSp>
      <p:cxnSp>
        <p:nvCxnSpPr>
          <p:cNvPr id="81" name="Connector 80"/>
          <p:cNvCxnSpPr/>
          <p:nvPr/>
        </p:nvCxnSpPr>
        <p:spPr>
          <a:xfrm>
            <a:off x="11064240" y="1920240"/>
            <a:ext cx="228600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cxnSp>
        <p:nvCxnSpPr>
          <p:cNvPr id="82" name="Connector 81"/>
          <p:cNvCxnSpPr/>
          <p:nvPr/>
        </p:nvCxnSpPr>
        <p:spPr>
          <a:xfrm>
            <a:off x="11292840" y="1920240"/>
            <a:ext cx="0" cy="3401567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cxnSp>
        <p:nvCxnSpPr>
          <p:cNvPr id="83" name="Connector 82"/>
          <p:cNvCxnSpPr/>
          <p:nvPr/>
        </p:nvCxnSpPr>
        <p:spPr>
          <a:xfrm flipH="1">
            <a:off x="11082528" y="5321807"/>
            <a:ext cx="210312" cy="0"/>
          </a:xfrm>
          <a:prstGeom prst="line">
            <a:avLst/>
          </a:prstGeom>
          <a:ln w="12700">
            <a:solidFill>
              <a:srgbClr val="1F4AA8"/>
            </a:solidFill>
            <a:tailEnd type="triangle" w="med" len="med"/>
          </a:ln>
        </p:spPr>
      </p:cxnSp>
      <p:cxnSp>
        <p:nvCxnSpPr>
          <p:cNvPr id="84" name="Connector 83"/>
          <p:cNvCxnSpPr/>
          <p:nvPr/>
        </p:nvCxnSpPr>
        <p:spPr>
          <a:xfrm flipH="1">
            <a:off x="11082528" y="4270248"/>
            <a:ext cx="210312" cy="0"/>
          </a:xfrm>
          <a:prstGeom prst="line">
            <a:avLst/>
          </a:prstGeom>
          <a:ln w="12700">
            <a:solidFill>
              <a:srgbClr val="1F4AA8"/>
            </a:solidFill>
            <a:tailEnd type="triangle" w="med" len="med"/>
          </a:ln>
        </p:spPr>
      </p:cxnSp>
      <p:sp>
        <p:nvSpPr>
          <p:cNvPr id="85" name="TextBox 84"/>
          <p:cNvSpPr txBox="1"/>
          <p:nvPr/>
        </p:nvSpPr>
        <p:spPr>
          <a:xfrm>
            <a:off x="11311128" y="3063240"/>
            <a:ext cx="29260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F4AA8"/>
                </a:solidFill>
                <a:latin typeface="Helvetica Neue"/>
                <a:ea typeface="PingFang SC"/>
              </a:rPr>
              <a:t>越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F4AA8"/>
                </a:solidFill>
                <a:latin typeface="Helvetica Neue"/>
                <a:ea typeface="PingFang SC"/>
              </a:rPr>
              <a:t>用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F4AA8"/>
                </a:solidFill>
                <a:latin typeface="Helvetica Neue"/>
                <a:ea typeface="PingFang SC"/>
              </a:rPr>
              <a:t>越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F4AA8"/>
                </a:solidFill>
                <a:latin typeface="Helvetica Neue"/>
                <a:ea typeface="PingFang SC"/>
              </a:rPr>
              <a:t>准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87" name="TextBox 86"/>
          <p:cNvSpPr txBox="1"/>
          <p:nvPr/>
        </p:nvSpPr>
        <p:spPr>
          <a:xfrm>
            <a:off x="54864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6B6B"/>
                </a:solidFill>
                <a:latin typeface="Helvetica Neue"/>
                <a:ea typeface="PingFang SC"/>
              </a:rPr>
              <a:t>越用越准：验收教训和评测用例回流到编排，知识修正回流到知识库。可扩展服务尚未开发。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服务能力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运维智能体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五项服务，各自对应客户最常见的一类诉求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1672" cy="395020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325880"/>
                <a:gridCol w="3429000"/>
                <a:gridCol w="4206240"/>
                <a:gridCol w="2130552"/>
              </a:tblGrid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服务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客户遇到的问题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我们交付什么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现在能做到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需求答复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售前和实施判断“能不能做、多久能做”只能去问开发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群里当场答复：能 / 不能 / 需确认，附依据和代码位置；答不了的转给对的人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一期已完成，待试点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日常维护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改一处坏一处，线上问题定位慢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告警和报错日志自动开单并对到代码；定位、修改、验证后交人验收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可提供，人审后采纳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功能扩展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原作者不在，新功能不知道该加在哪、会碰到什么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变更方案和影响清单先行，再由智能体实现、验证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可提供，人审后采纳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系统重构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推倒重来屡次失败，进度只能听口头汇报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按业务域拆成改动工单，牵连少的先做试点，再分批放出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可提供，按业务域分批推进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系统升级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依赖老化、信创适配踩坑多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依赖升级、框架迁移、兼容适配同样按业务域分批，逐单验收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可提供，按业务域分批推进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5321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1414"/>
                </a:solidFill>
                <a:latin typeface="Helvetica Neue"/>
                <a:ea typeface="PingFang SC"/>
              </a:rPr>
              <a:t>表 2  </a:t>
            </a: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“人审后采纳”指智能体完成修改，开发审核后合入；能否放开为无人值守，由试点数据决定。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人机分工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运维智能体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每张工单先评估影响，再决定智能体做到哪一步、人在哪一步确认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 w="1270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22768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4AA8"/>
                </a:solidFill>
                <a:latin typeface="Helvetica Neue"/>
                <a:ea typeface="PingFang SC"/>
              </a:rPr>
              <a:t>关联业务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38528"/>
            <a:ext cx="227685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识别是哪类服务，关联到业务域和相关代码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72968" y="2075688"/>
            <a:ext cx="182880" cy="0"/>
          </a:xfrm>
          <a:prstGeom prst="line">
            <a:avLst/>
          </a:prstGeom>
          <a:ln w="15875">
            <a:solidFill>
              <a:srgbClr val="1F4AA8"/>
            </a:solidFill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3374136" y="146304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 w="1270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572768"/>
            <a:ext cx="22768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4AA8"/>
                </a:solidFill>
                <a:latin typeface="Helvetica Neue"/>
                <a:ea typeface="PingFang SC"/>
              </a:rPr>
              <a:t>影响评估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1938528"/>
            <a:ext cx="227685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找出涉及的业务流、表和定时任务，判断风险高低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98464" y="2075688"/>
            <a:ext cx="182880" cy="0"/>
          </a:xfrm>
          <a:prstGeom prst="line">
            <a:avLst/>
          </a:prstGeom>
          <a:ln w="15875">
            <a:solidFill>
              <a:srgbClr val="1F4AA8"/>
            </a:solidFill>
            <a:tailEnd type="triangle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6199631" y="146304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 w="1270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3" y="1572768"/>
            <a:ext cx="22768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4AA8"/>
                </a:solidFill>
                <a:latin typeface="Helvetica Neue"/>
                <a:ea typeface="PingFang SC"/>
              </a:rPr>
              <a:t>选择程度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3" y="1938528"/>
            <a:ext cx="227685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按类型和风险，决定智能体做到哪一步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23959" y="2075688"/>
            <a:ext cx="182881" cy="0"/>
          </a:xfrm>
          <a:prstGeom prst="line">
            <a:avLst/>
          </a:prstGeom>
          <a:ln w="15875">
            <a:solidFill>
              <a:srgbClr val="1F4AA8"/>
            </a:solidFill>
            <a:tailEnd type="triangle" w="med" len="med"/>
          </a:ln>
        </p:spPr>
      </p:cxnSp>
      <p:sp>
        <p:nvSpPr>
          <p:cNvPr id="17" name="Rounded Rectangle 16"/>
          <p:cNvSpPr/>
          <p:nvPr/>
        </p:nvSpPr>
        <p:spPr>
          <a:xfrm>
            <a:off x="9025128" y="146304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19" y="1572768"/>
            <a:ext cx="22768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4AA8"/>
                </a:solidFill>
                <a:latin typeface="Helvetica Neue"/>
                <a:ea typeface="PingFang SC"/>
              </a:rPr>
              <a:t>人工确认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1938528"/>
            <a:ext cx="227685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高风险或把握不足时交人，确认点前置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017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B6B6B"/>
                </a:solidFill>
                <a:latin typeface="Helvetica Neue"/>
                <a:ea typeface="PingFang SC"/>
              </a:rPr>
              <a:t>按风险选择自动化程度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69080"/>
            <a:ext cx="2697480" cy="1097280"/>
          </a:xfrm>
          <a:prstGeom prst="rect">
            <a:avLst/>
          </a:prstGeom>
          <a:solidFill>
            <a:srgbClr val="FFFFFF"/>
          </a:solidFill>
          <a:ln w="1143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6052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问答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489704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141414"/>
                </a:solidFill>
                <a:latin typeface="Helvetica Neue"/>
                <a:ea typeface="PingFang SC"/>
              </a:rPr>
              <a:t>人提问，智能体作答并附依据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39512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414"/>
                </a:solidFill>
                <a:latin typeface="Helvetica Neue"/>
                <a:ea typeface="PingFang SC"/>
              </a:rPr>
              <a:t>人：提问、判断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468112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适用：现场答复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46704" y="3703320"/>
            <a:ext cx="2697480" cy="1463040"/>
          </a:xfrm>
          <a:prstGeom prst="rect">
            <a:avLst/>
          </a:prstGeom>
          <a:solidFill>
            <a:srgbClr val="DCE4F5"/>
          </a:solidFill>
          <a:ln w="1143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83864" y="3794759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辅助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83864" y="4123944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141414"/>
                </a:solidFill>
                <a:latin typeface="Helvetica Neue"/>
                <a:ea typeface="PingFang SC"/>
              </a:rPr>
              <a:t>开发自己写，知识自动送到手边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46704" y="5239512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414"/>
                </a:solidFill>
                <a:latin typeface="Helvetica Neue"/>
                <a:ea typeface="PingFang SC"/>
              </a:rPr>
              <a:t>人：写代码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46704" y="5468112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适用：复杂需求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3337560"/>
            <a:ext cx="2697480" cy="1828800"/>
          </a:xfrm>
          <a:prstGeom prst="rect">
            <a:avLst/>
          </a:prstGeom>
          <a:solidFill>
            <a:srgbClr val="8EA6DA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342900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半自动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3758184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141414"/>
                </a:solidFill>
                <a:latin typeface="Helvetica Neue"/>
                <a:ea typeface="PingFang SC"/>
              </a:rPr>
              <a:t>智能体完成修改，人审核后采纳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239512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414"/>
                </a:solidFill>
                <a:latin typeface="Helvetica Neue"/>
                <a:ea typeface="PingFang SC"/>
              </a:rPr>
              <a:t>人：审核、验收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5468112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适用：当前默认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42832" y="2971800"/>
            <a:ext cx="2697480" cy="21945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79992" y="30632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  <a:ea typeface="PingFang SC"/>
              </a:rPr>
              <a:t>无人值守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9992" y="3392424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Helvetica Neue"/>
                <a:ea typeface="PingFang SC"/>
              </a:rPr>
              <a:t>低风险工单通过检查后自动完成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42832" y="5239512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414"/>
                </a:solidFill>
                <a:latin typeface="Helvetica Neue"/>
                <a:ea typeface="PingFang SC"/>
              </a:rPr>
              <a:t>人：只验收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42832" y="5468112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适用：范围由试点数据决定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54864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6B6B"/>
                </a:solidFill>
                <a:latin typeface="Helvetica Neue"/>
                <a:ea typeface="PingFang SC"/>
              </a:rPr>
              <a:t>风险自动分级在二期上线；在此之前，自动化程度由人选择。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智能体编排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运维智能体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六个环节按工单流程接力，每一步都有交付物，人确认的位置是固定的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1672" cy="384048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645920"/>
                <a:gridCol w="2926080"/>
                <a:gridCol w="3657600"/>
                <a:gridCol w="2862072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环节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负责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交付物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人确认什么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任务受理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关联业务与代码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工单、涉及的业务域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需求人员确认范围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问题定位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找到相关代码位置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可行性结论、代码位置与依据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—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方案规划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拆分改动与步骤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变更方案、影响清单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开发审方案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开发执行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按文件分工改代码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独立分支上的改动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—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验证审查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构建测试与诊断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构建、测试、诊断结果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不通过自动重改，最多 3 轮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人工验收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通过交付 · 退回重改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改动说明、验收要点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人验收，主干由人合入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486400"/>
            <a:ext cx="11091672" cy="658368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41414"/>
                </a:solidFill>
                <a:latin typeface="Helvetica Neue"/>
                <a:ea typeface="PingFang SC"/>
              </a:rPr>
              <a:t>分工的好处：</a:t>
            </a: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每一步的输入输出都留档，哪一步出了问题可以单独返工；五项服务共用这一套编排，新服务接上来不用重做。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代码知识库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运维智能体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共用一份代码知识库：业务讲得清，结论有出处，源码不出内网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63040"/>
            <a:ext cx="2679192" cy="0"/>
          </a:xfrm>
          <a:prstGeom prst="line">
            <a:avLst/>
          </a:prstGeom>
          <a:ln w="25400">
            <a:solidFill>
              <a:srgbClr val="1F4AA8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48640" y="160020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414"/>
                </a:solidFill>
                <a:latin typeface="Helvetica Neue"/>
                <a:ea typeface="PingFang SC"/>
              </a:rPr>
              <a:t>业务地图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679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老项目的业务说明书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87752"/>
            <a:ext cx="73152" cy="73152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514600"/>
            <a:ext cx="24505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Helvetica Neue"/>
                <a:ea typeface="PingFang SC"/>
              </a:rPr>
              <a:t>从代码自动梳理出业务域、业务流和数据表的关系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9544"/>
            <a:ext cx="73152" cy="73152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136392"/>
            <a:ext cx="24505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Helvetica Neue"/>
                <a:ea typeface="PingFang SC"/>
              </a:rPr>
              <a:t>需求按业务名称就能找到对应代码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31336"/>
            <a:ext cx="73152" cy="73152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758184"/>
            <a:ext cx="24505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Helvetica Neue"/>
                <a:ea typeface="PingFang SC"/>
              </a:rPr>
              <a:t>代码一改，相关内容自动标记过期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55848" y="1463040"/>
            <a:ext cx="2679192" cy="0"/>
          </a:xfrm>
          <a:prstGeom prst="line">
            <a:avLst/>
          </a:prstGeom>
          <a:ln w="25400">
            <a:solidFill>
              <a:srgbClr val="1F4AA8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3355848" y="160020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414"/>
                </a:solidFill>
                <a:latin typeface="Helvetica Neue"/>
                <a:ea typeface="PingFang SC"/>
              </a:rPr>
              <a:t>代码证据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2011680"/>
            <a:ext cx="2679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每个结论都有出处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5848" y="2587752"/>
            <a:ext cx="73152" cy="73152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7016" y="2514600"/>
            <a:ext cx="24505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Helvetica Neue"/>
                <a:ea typeface="PingFang SC"/>
              </a:rPr>
              <a:t>答复附入口、调用链和文件行号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5848" y="3209544"/>
            <a:ext cx="73152" cy="73152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57016" y="3136392"/>
            <a:ext cx="24505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Helvetica Neue"/>
                <a:ea typeface="PingFang SC"/>
              </a:rPr>
              <a:t>告警和报错堆栈自动对到代码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5848" y="3831336"/>
            <a:ext cx="73152" cy="73152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57016" y="3758184"/>
            <a:ext cx="24505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Helvetica Neue"/>
                <a:ea typeface="PingFang SC"/>
              </a:rPr>
              <a:t>每次修改记录依据、模型和改动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63056" y="1463040"/>
            <a:ext cx="2679192" cy="0"/>
          </a:xfrm>
          <a:prstGeom prst="line">
            <a:avLst/>
          </a:prstGeom>
          <a:ln w="25400">
            <a:solidFill>
              <a:srgbClr val="1F4AA8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163056" y="160020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414"/>
                </a:solidFill>
                <a:latin typeface="Helvetica Neue"/>
                <a:ea typeface="PingFang SC"/>
              </a:rPr>
              <a:t>项目知识页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6" y="2011680"/>
            <a:ext cx="2679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人确认过的才算数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6" y="2587752"/>
            <a:ext cx="73152" cy="73152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2514600"/>
            <a:ext cx="24505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Helvetica Neue"/>
                <a:ea typeface="PingFang SC"/>
              </a:rPr>
              <a:t>业务确认人确认后才用于直接答复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63056" y="3209544"/>
            <a:ext cx="73152" cy="73152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3136392"/>
            <a:ext cx="24505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Helvetica Neue"/>
                <a:ea typeface="PingFang SC"/>
              </a:rPr>
              <a:t>开发的答复写回知识页，同类问题下次直接答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6" y="3831336"/>
            <a:ext cx="73152" cy="73152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3758184"/>
            <a:ext cx="24505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Helvetica Neue"/>
                <a:ea typeface="PingFang SC"/>
              </a:rPr>
              <a:t>按实际用到的业务逐步补全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70264" y="1463040"/>
            <a:ext cx="2679192" cy="0"/>
          </a:xfrm>
          <a:prstGeom prst="line">
            <a:avLst/>
          </a:prstGeom>
          <a:ln w="25400">
            <a:solidFill>
              <a:srgbClr val="1F4AA8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8970264" y="160020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414"/>
                </a:solidFill>
                <a:latin typeface="Helvetica Neue"/>
                <a:ea typeface="PingFang SC"/>
              </a:rPr>
              <a:t>本地离线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0264" y="2011680"/>
            <a:ext cx="2679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在客户内网里也能用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70264" y="2587752"/>
            <a:ext cx="73152" cy="73152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71432" y="2514600"/>
            <a:ext cx="24505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Helvetica Neue"/>
                <a:ea typeface="PingFang SC"/>
              </a:rPr>
              <a:t>分析全部在本地完成，源码不外传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70264" y="3209544"/>
            <a:ext cx="73152" cy="73152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71432" y="3136392"/>
            <a:ext cx="24505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Helvetica Neue"/>
                <a:ea typeface="PingFang SC"/>
              </a:rPr>
              <a:t>内网离线安装包，可接国产模型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70264" y="3831336"/>
            <a:ext cx="73152" cy="73152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71432" y="3758184"/>
            <a:ext cx="24505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Helvetica Neue"/>
                <a:ea typeface="PingFang SC"/>
              </a:rPr>
              <a:t>群机器人支持钉钉、飞书、企业微信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846320"/>
            <a:ext cx="11091672" cy="118872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4919472"/>
            <a:ext cx="1069848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1">
                <a:solidFill>
                  <a:srgbClr val="141414"/>
                </a:solidFill>
                <a:latin typeface="Helvetica Neue"/>
                <a:ea typeface="PingFang SC"/>
              </a:rPr>
              <a:t>越用越准：</a:t>
            </a: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验收不通过记成教训，自动重改；验收通过的工单进入评测集，换模型或改提示词前先回放打分。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1">
                <a:solidFill>
                  <a:srgbClr val="141414"/>
                </a:solidFill>
                <a:latin typeface="Helvetica Neue"/>
                <a:ea typeface="PingFang SC"/>
              </a:rPr>
              <a:t>看得见：</a:t>
            </a: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答复时长、找开发次数、工单周期从流程里自动统计。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一个例子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运维智能体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一句需求在群里提出，几秒后拿到带依据的答复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64008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Helvetica Neue"/>
                <a:ea typeface="PingFang SC"/>
              </a:rPr>
              <a:t>实施人员在群里问：</a:t>
            </a:r>
            <a:r>
              <a:rPr sz="1250" b="1">
                <a:solidFill>
                  <a:srgbClr val="141414"/>
                </a:solidFill>
                <a:latin typeface="Helvetica Neue"/>
                <a:ea typeface="PingFang SC"/>
              </a:rPr>
              <a:t>“批量审批时，能不能记录真实审批人？任一单据失败要整批回滚。”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2103120" cy="2103120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 w="1270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786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F4AA8"/>
                </a:solidFill>
                <a:latin typeface="Helvetica Neue"/>
                <a:ea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35808"/>
            <a:ext cx="18287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任务受理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182879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归为需求答复；只问能不能做，按问答处理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60903" y="3520440"/>
            <a:ext cx="125273" cy="0"/>
          </a:xfrm>
          <a:prstGeom prst="line">
            <a:avLst/>
          </a:prstGeom>
          <a:ln w="12700">
            <a:solidFill>
              <a:srgbClr val="1F4AA8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2795320" y="2468880"/>
            <a:ext cx="2103120" cy="2103120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 w="1270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32480" y="25786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F4AA8"/>
                </a:solidFill>
                <a:latin typeface="Helvetica Neue"/>
                <a:ea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2480" y="3035808"/>
            <a:ext cx="18287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问题定位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2480" y="3401568"/>
            <a:ext cx="182879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在代码知识库里找到“批量审批”业务流，已有确认过的说明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07584" y="3520440"/>
            <a:ext cx="125273" cy="0"/>
          </a:xfrm>
          <a:prstGeom prst="line">
            <a:avLst/>
          </a:prstGeom>
          <a:ln w="12700">
            <a:solidFill>
              <a:srgbClr val="1F4AA8"/>
            </a:solidFill>
            <a:tailEnd type="triangle" w="med" len="med"/>
          </a:ln>
        </p:spPr>
      </p:cxnSp>
      <p:sp>
        <p:nvSpPr>
          <p:cNvPr id="17" name="Rounded Rectangle 16"/>
          <p:cNvSpPr/>
          <p:nvPr/>
        </p:nvSpPr>
        <p:spPr>
          <a:xfrm>
            <a:off x="5042001" y="2468880"/>
            <a:ext cx="2103120" cy="2103120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 w="1270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9161" y="25786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F4AA8"/>
                </a:solidFill>
                <a:latin typeface="Helvetica Neue"/>
                <a:ea typeface="PingFang S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9161" y="3035808"/>
            <a:ext cx="18287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给出结论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9161" y="3401568"/>
            <a:ext cx="182879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需改代码，附需要修改的代码位置和依据页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54265" y="3520440"/>
            <a:ext cx="125273" cy="0"/>
          </a:xfrm>
          <a:prstGeom prst="line">
            <a:avLst/>
          </a:prstGeom>
          <a:ln w="12700">
            <a:solidFill>
              <a:srgbClr val="1F4AA8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7288682" y="2468880"/>
            <a:ext cx="210312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5C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5842" y="25786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F4AA8"/>
                </a:solidFill>
                <a:latin typeface="Helvetica Neue"/>
                <a:ea typeface="PingFang S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5842" y="3035808"/>
            <a:ext cx="18287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人工确认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5842" y="3401568"/>
            <a:ext cx="182879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实施人员确认范围后，一键转成工单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00946" y="3520440"/>
            <a:ext cx="125273" cy="0"/>
          </a:xfrm>
          <a:prstGeom prst="line">
            <a:avLst/>
          </a:prstGeom>
          <a:ln w="12700">
            <a:solidFill>
              <a:srgbClr val="1F4AA8"/>
            </a:solidFill>
            <a:tailEnd type="triangle" w="med" len="med"/>
          </a:ln>
        </p:spPr>
      </p:cxnSp>
      <p:sp>
        <p:nvSpPr>
          <p:cNvPr id="27" name="Rounded Rectangle 26"/>
          <p:cNvSpPr/>
          <p:nvPr/>
        </p:nvSpPr>
        <p:spPr>
          <a:xfrm>
            <a:off x="9535363" y="2468880"/>
            <a:ext cx="210312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5C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72523" y="25786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F4AA8"/>
                </a:solidFill>
                <a:latin typeface="Helvetica Neue"/>
                <a:ea typeface="PingFang S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2523" y="3035808"/>
            <a:ext cx="18287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后续接力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72523" y="3401568"/>
            <a:ext cx="182879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方案规划、开发执行、验证审查依次接手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892040"/>
            <a:ext cx="11091672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983480"/>
            <a:ext cx="106984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1">
                <a:solidFill>
                  <a:srgbClr val="141414"/>
                </a:solidFill>
                <a:latin typeface="Helvetica Neue"/>
                <a:ea typeface="PingFang SC"/>
              </a:rPr>
              <a:t>同样的问题，换一个还没梳理过的业务域：</a:t>
            </a: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能找到相关代码，但给不出确定结论，会转给对应的开发。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1">
                <a:solidFill>
                  <a:srgbClr val="141414"/>
                </a:solidFill>
                <a:latin typeface="Helvetica Neue"/>
                <a:ea typeface="PingFang SC"/>
              </a:rPr>
              <a:t>开发的答复写回知识页，</a:t>
            </a: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下次同类问题就能直接答。知识页按实际用到的业务逐步补全。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54864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6B6B"/>
                </a:solidFill>
                <a:latin typeface="Helvetica Neue"/>
                <a:ea typeface="PingFang SC"/>
              </a:rPr>
              <a:t>示例取自 55 万行财务共享平台的实测。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实测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运维智能体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55 万行的财务共享平台：自动梳理出 3,079 条业务流，一句需求约 5 秒定位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5760720" cy="274320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377440"/>
                <a:gridCol w="338328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项目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数值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代码规模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约 55 万行，98% 来自反编译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梳理出的业务流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3,079 条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涉及的数据表 / 业务域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802 张 / 114 个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一句中文需求定位到代码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约 5 秒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改动后知识库更新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小型项目约 1 分钟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34340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1414"/>
                </a:solidFill>
                <a:latin typeface="Helvetica Neue"/>
                <a:ea typeface="PingFang SC"/>
              </a:rPr>
              <a:t>表 3  </a:t>
            </a: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分析全部在本地完成，源码不外传。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49440" y="1463040"/>
            <a:ext cx="46908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949440" y="1572768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F4AA8"/>
                </a:solidFill>
                <a:latin typeface="Helvetica Neue"/>
                <a:ea typeface="PingFang SC"/>
              </a:rPr>
              <a:t>3,079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12140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条业务流，按业务域归档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0" y="2560320"/>
            <a:ext cx="46908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949440" y="2670048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F4AA8"/>
                </a:solidFill>
                <a:latin typeface="Helvetica Neue"/>
                <a:ea typeface="PingFang SC"/>
              </a:rPr>
              <a:t>约 5 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218687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一句中文需求定位到代码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49440" y="3657600"/>
            <a:ext cx="46908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949440" y="3767328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F4AA8"/>
                </a:solidFill>
                <a:latin typeface="Helvetica Neue"/>
                <a:ea typeface="PingFang SC"/>
              </a:rPr>
              <a:t>源码不外传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31596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分析全部在本地完成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运维智能体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先答得快，再改得稳，最后让翻新看得见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611880" cy="4251960"/>
          </a:xfrm>
          <a:prstGeom prst="rect">
            <a:avLst/>
          </a:prstGeom>
          <a:solidFill>
            <a:srgbClr val="DCE4F5"/>
          </a:solidFill>
          <a:ln w="1905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一期 · 答得快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需求人员少找开发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1463040" cy="246888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已完成，待试点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697480"/>
            <a:ext cx="3246119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10" name="Rectangle 9"/>
          <p:cNvSpPr/>
          <p:nvPr/>
        </p:nvSpPr>
        <p:spPr>
          <a:xfrm>
            <a:off x="749808" y="2907792"/>
            <a:ext cx="73152" cy="73152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83464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群里提问，当场答复能不能做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3255264"/>
            <a:ext cx="73152" cy="73152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82112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答不了的转给对的人，答复写回知识页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3602736"/>
            <a:ext cx="73152" cy="73152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529584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相似工单自动提示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3950208"/>
            <a:ext cx="73152" cy="73152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877056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内网离线安装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4297680"/>
            <a:ext cx="73152" cy="73152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22452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“少找人”自动统计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4800600"/>
            <a:ext cx="3246119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731520" y="4873752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Helvetica Neue"/>
                <a:ea typeface="PingFang SC"/>
              </a:rPr>
              <a:t>过关：</a:t>
            </a: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试点项目自动答复的采纳率达到立项会定的线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69663" y="1828800"/>
            <a:ext cx="109729" cy="0"/>
          </a:xfrm>
          <a:prstGeom prst="line">
            <a:avLst/>
          </a:prstGeom>
          <a:ln w="15875">
            <a:solidFill>
              <a:srgbClr val="1F4AA8"/>
            </a:solidFill>
            <a:tailEnd type="triangle" w="med" len="med"/>
          </a:ln>
        </p:spPr>
      </p:cxnSp>
      <p:sp>
        <p:nvSpPr>
          <p:cNvPr id="23" name="Rectangle 22"/>
          <p:cNvSpPr/>
          <p:nvPr/>
        </p:nvSpPr>
        <p:spPr>
          <a:xfrm>
            <a:off x="4288536" y="1463040"/>
            <a:ext cx="361188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71416" y="157276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二期 · 改得稳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1416" y="19659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不敢改变成敢改、自动改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71416" y="2286000"/>
            <a:ext cx="914400" cy="246888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6B6B6B"/>
                </a:solidFill>
                <a:latin typeface="Helvetica Neue"/>
                <a:ea typeface="PingFang SC"/>
              </a:rPr>
              <a:t>未开始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471416" y="2697480"/>
            <a:ext cx="3246120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28" name="Rectangle 27"/>
          <p:cNvSpPr/>
          <p:nvPr/>
        </p:nvSpPr>
        <p:spPr>
          <a:xfrm>
            <a:off x="4489703" y="2907792"/>
            <a:ext cx="73152" cy="73152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2583" y="283464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工单风险自动分级，低风险自动处理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9703" y="3255264"/>
            <a:ext cx="73152" cy="73152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72583" y="3182112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改动前生成回归清单和测试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9703" y="3602736"/>
            <a:ext cx="73152" cy="73152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72583" y="3529584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工作量区间估算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9703" y="3950208"/>
            <a:ext cx="73152" cy="73152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72583" y="3877056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工时自动归集，维保价值账单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9703" y="4297680"/>
            <a:ext cx="73152" cy="73152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72583" y="422452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补丁同步到其他客户的分支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471416" y="4800600"/>
            <a:ext cx="3246120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4471416" y="4873752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Helvetica Neue"/>
                <a:ea typeface="PingFang SC"/>
              </a:rPr>
              <a:t>过关：</a:t>
            </a: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低风险工单无人化后，退回率不高于人工基线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909560" y="1828800"/>
            <a:ext cx="109728" cy="0"/>
          </a:xfrm>
          <a:prstGeom prst="line">
            <a:avLst/>
          </a:prstGeom>
          <a:ln w="15875">
            <a:solidFill>
              <a:srgbClr val="1F4AA8"/>
            </a:solidFill>
            <a:tailEnd type="triangle" w="med" len="med"/>
          </a:ln>
        </p:spPr>
      </p:cxnSp>
      <p:sp>
        <p:nvSpPr>
          <p:cNvPr id="41" name="Rectangle 40"/>
          <p:cNvSpPr/>
          <p:nvPr/>
        </p:nvSpPr>
        <p:spPr>
          <a:xfrm>
            <a:off x="8028431" y="1463040"/>
            <a:ext cx="361188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11311" y="157276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三期 · 翻新看得见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1311" y="19659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改造进度按业务流可查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11311" y="2286000"/>
            <a:ext cx="914400" cy="246888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6B6B6B"/>
                </a:solidFill>
                <a:latin typeface="Helvetica Neue"/>
                <a:ea typeface="PingFang SC"/>
              </a:rPr>
              <a:t>未开始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211311" y="2697480"/>
            <a:ext cx="3246121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46" name="Rectangle 45"/>
          <p:cNvSpPr/>
          <p:nvPr/>
        </p:nvSpPr>
        <p:spPr>
          <a:xfrm>
            <a:off x="8229600" y="2907792"/>
            <a:ext cx="73152" cy="73152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283464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可重复执行的批量改写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3255264"/>
            <a:ext cx="73152" cy="73152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3182112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新旧系统行为对比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3602736"/>
            <a:ext cx="73152" cy="73152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3529584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改造进度看板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211311" y="4800600"/>
            <a:ext cx="3246121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8211311" y="4873752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Helvetica Neue"/>
                <a:ea typeface="PingFang SC"/>
              </a:rPr>
              <a:t>过关：</a:t>
            </a: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一个老项目按看板完成一个业务域的翻新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54864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6B6B"/>
                </a:solidFill>
                <a:latin typeface="Helvetica Neue"/>
                <a:ea typeface="PingFang SC"/>
              </a:rPr>
              <a:t>其余能力按试点项目的实际需要安排。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度量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运维智能体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提效只看三类数：答复更快、交付更快、少找人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1671" cy="320040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828800"/>
                <a:gridCol w="3977639"/>
                <a:gridCol w="1280160"/>
                <a:gridCol w="1371600"/>
                <a:gridCol w="2633472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指标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定义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口径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主指标所在期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现在能采吗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答复时长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需求人员提问到拿到可行性结论的时间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答复更快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一期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能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自动答复采纳率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自动答复未被开发推翻的比例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少找人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一期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能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找开发次数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每周转人工的提问数，对比上线前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少找人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一期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能，需上线前基线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工单周期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从提出到验收通过，对比 Jira / 禅道基线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交付更快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二期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能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无人化占比与退回率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自动跑完的工单数及其验收退回比例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交付更快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二期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待建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改造完成度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已改造并通过新旧对比的业务流占比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交付更快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三期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待建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548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1414"/>
                </a:solidFill>
                <a:latin typeface="Helvetica Neue"/>
                <a:ea typeface="PingFang SC"/>
              </a:rPr>
              <a:t>表 4  </a:t>
            </a: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全部从流程中自动采集，无需额外填报。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120640"/>
            <a:ext cx="11091672" cy="100584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16636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1">
                <a:solidFill>
                  <a:srgbClr val="141414"/>
                </a:solidFill>
                <a:latin typeface="Helvetica Neue"/>
                <a:ea typeface="PingFang SC"/>
              </a:rPr>
              <a:t>速度与返工并列报告：</a:t>
            </a: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AI 采用率每提高 25%，交付稳定性下降 7.2% [5]。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1">
                <a:solidFill>
                  <a:srgbClr val="141414"/>
                </a:solidFill>
                <a:latin typeface="Helvetica Neue"/>
                <a:ea typeface="PingFang SC"/>
              </a:rPr>
              <a:t>基线：</a:t>
            </a: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以试点项目过去 3～6 个月的工单历史为准。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6B6B"/>
                </a:solidFill>
                <a:latin typeface="Helvetica Neue"/>
                <a:ea typeface="PingFang SC"/>
              </a:rPr>
              <a:t>[5] DORA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运维智能体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试点需要确认三件事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0876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48640" y="1645919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F4AA8"/>
                </a:solidFill>
                <a:latin typeface="Helvetica Neue"/>
                <a:ea typeface="PingFang S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9163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试点范围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691639"/>
            <a:ext cx="7589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41414"/>
                </a:solidFill>
                <a:latin typeface="Helvetica Neue"/>
                <a:ea typeface="PingFang SC"/>
              </a:rPr>
              <a:t>选定一个项目，以及若干高频业务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130552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先运行 4 周得到基线，再定过关标准。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834639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48640" y="2971799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F4AA8"/>
                </a:solidFill>
                <a:latin typeface="Helvetica Neue"/>
                <a:ea typeface="PingFang S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17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接入渠道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017520"/>
            <a:ext cx="7589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41414"/>
                </a:solidFill>
                <a:latin typeface="Helvetica Neue"/>
                <a:ea typeface="PingFang SC"/>
              </a:rPr>
              <a:t>钉钉、飞书、企业微信，先接哪一个？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456432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三种接口均已具备，选一个在真实群聊中联调。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416052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548640" y="429768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F4AA8"/>
                </a:solidFill>
                <a:latin typeface="Helvetica Neue"/>
                <a:ea typeface="PingFang S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343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业务确认人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343400"/>
            <a:ext cx="7589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41414"/>
                </a:solidFill>
                <a:latin typeface="Helvetica Neue"/>
                <a:ea typeface="PingFang SC"/>
              </a:rPr>
              <a:t>每个业务域指定一位确认人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782312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知识页经确认后，才用于直接答复。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54864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参考文献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运维智能体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[1] Xia 等. Measuring Program Comprehension. ICSE 2018.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[2] Stack Overflow. 2024 Developer Survey insights.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[3] Gloria Mark 的打断研究，经 Fast Company 报道.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[4] Avelino 等. Truck factor. arXiv 1604.06766.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[5] Google Cloud. DORA 2024 report.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