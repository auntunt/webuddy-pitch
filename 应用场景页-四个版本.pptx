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应用场景 · 版本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同一套智能体和知识库，从维保延伸到交付前后的更多环节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3384" y="134416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17352" y="1389888"/>
            <a:ext cx="201168" cy="1463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21824" y="134416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验证中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65792" y="1389888"/>
            <a:ext cx="201168" cy="146304"/>
          </a:xfrm>
          <a:prstGeom prst="roundRect">
            <a:avLst>
              <a:gd name="adj" fmla="val 20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70264" y="134416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已可用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14232" y="1389888"/>
            <a:ext cx="201168" cy="146304"/>
          </a:xfrm>
          <a:prstGeom prst="roundRect">
            <a:avLst>
              <a:gd name="adj" fmla="val 20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1371600" cy="274320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应用场景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92040"/>
            <a:ext cx="1371600" cy="1225296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共用底座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1783080"/>
            <a:ext cx="3087624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8EA6DA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79" y="1856231"/>
            <a:ext cx="2813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已可用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12848" y="2194560"/>
            <a:ext cx="1379220" cy="676656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2848" y="2258568"/>
            <a:ext cx="1379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需求答复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523744"/>
            <a:ext cx="1379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DCE4F5"/>
                </a:solidFill>
                <a:latin typeface="Helvetica Neue"/>
                <a:ea typeface="PingFang SC"/>
              </a:rPr>
              <a:t>群里答能不能做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1796" y="2194560"/>
            <a:ext cx="1379220" cy="676656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1796" y="2258568"/>
            <a:ext cx="1379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缺陷修复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1796" y="2523744"/>
            <a:ext cx="1379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DCE4F5"/>
                </a:solidFill>
                <a:latin typeface="Helvetica Neue"/>
                <a:ea typeface="PingFang SC"/>
              </a:rPr>
              <a:t>定位、修改、交人验收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12848" y="2962656"/>
            <a:ext cx="1379220" cy="676656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3026663"/>
            <a:ext cx="1379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功能扩展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3291839"/>
            <a:ext cx="1379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DCE4F5"/>
                </a:solidFill>
                <a:latin typeface="Helvetica Neue"/>
                <a:ea typeface="PingFang SC"/>
              </a:rPr>
              <a:t>先出方案再实现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1796" y="2962656"/>
            <a:ext cx="1379220" cy="676656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1796" y="3026663"/>
            <a:ext cx="1379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告警开单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1796" y="3291839"/>
            <a:ext cx="1379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DCE4F5"/>
                </a:solidFill>
                <a:latin typeface="Helvetica Neue"/>
                <a:ea typeface="PingFang SC"/>
              </a:rPr>
              <a:t>报错日志对到代码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12848" y="3730752"/>
            <a:ext cx="1379220" cy="676656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12848" y="3794760"/>
            <a:ext cx="1379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分批重构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4059936"/>
            <a:ext cx="1379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DCE4F5"/>
                </a:solidFill>
                <a:latin typeface="Helvetica Neue"/>
                <a:ea typeface="PingFang SC"/>
              </a:rPr>
              <a:t>按业务域分批升级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1796" y="3730752"/>
            <a:ext cx="1379220" cy="676656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1796" y="3794760"/>
            <a:ext cx="1379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提效报告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1796" y="4059936"/>
            <a:ext cx="1379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DCE4F5"/>
                </a:solidFill>
                <a:latin typeface="Helvetica Neue"/>
                <a:ea typeface="PingFang SC"/>
              </a:rPr>
              <a:t>从工单流程自动统计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46932" y="4526280"/>
            <a:ext cx="0" cy="182880"/>
          </a:xfrm>
          <a:prstGeom prst="line">
            <a:avLst/>
          </a:prstGeom>
          <a:ln w="12700">
            <a:solidFill>
              <a:srgbClr val="8EA6DA"/>
            </a:solidFill>
          </a:ln>
        </p:spPr>
      </p:cxnSp>
      <p:sp>
        <p:nvSpPr>
          <p:cNvPr id="33" name="Rounded Rectangle 32"/>
          <p:cNvSpPr/>
          <p:nvPr/>
        </p:nvSpPr>
        <p:spPr>
          <a:xfrm>
            <a:off x="5327904" y="1783080"/>
            <a:ext cx="3087624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8EA6DA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65064" y="1856231"/>
            <a:ext cx="2813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验证中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37632" y="2194560"/>
            <a:ext cx="1379220" cy="676656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37632" y="2258568"/>
            <a:ext cx="1379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4AA8"/>
                </a:solidFill>
                <a:latin typeface="Helvetica Neue"/>
                <a:ea typeface="PingFang SC"/>
              </a:rPr>
              <a:t>跨语言重写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7632" y="2523744"/>
            <a:ext cx="1379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Helvetica Neue"/>
                <a:ea typeface="PingFang SC"/>
              </a:rPr>
              <a:t>.NET 改写为 Java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26579" y="2194560"/>
            <a:ext cx="1379220" cy="676656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26579" y="2258568"/>
            <a:ext cx="1379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4AA8"/>
                </a:solidFill>
                <a:latin typeface="Helvetica Neue"/>
                <a:ea typeface="PingFang SC"/>
              </a:rPr>
              <a:t>历史工单回放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6579" y="2523744"/>
            <a:ext cx="1379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Helvetica Neue"/>
                <a:ea typeface="PingFang SC"/>
              </a:rPr>
              <a:t>评测找全率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37632" y="2962656"/>
            <a:ext cx="1379220" cy="676656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37632" y="3026663"/>
            <a:ext cx="1379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4AA8"/>
                </a:solidFill>
                <a:latin typeface="Helvetica Neue"/>
                <a:ea typeface="PingFang SC"/>
              </a:rPr>
              <a:t>外部工单导入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37632" y="3291839"/>
            <a:ext cx="1379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Helvetica Neue"/>
                <a:ea typeface="PingFang SC"/>
              </a:rPr>
              <a:t>Jira、禅道同步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71716" y="4526280"/>
            <a:ext cx="0" cy="182880"/>
          </a:xfrm>
          <a:prstGeom prst="line">
            <a:avLst/>
          </a:prstGeom>
          <a:ln w="12700">
            <a:solidFill>
              <a:srgbClr val="8EA6DA"/>
            </a:solidFill>
          </a:ln>
        </p:spPr>
      </p:cxnSp>
      <p:sp>
        <p:nvSpPr>
          <p:cNvPr id="45" name="Rounded Rectangle 44"/>
          <p:cNvSpPr/>
          <p:nvPr/>
        </p:nvSpPr>
        <p:spPr>
          <a:xfrm>
            <a:off x="8552687" y="1783080"/>
            <a:ext cx="3087624" cy="2743200"/>
          </a:xfrm>
          <a:prstGeom prst="roundRect">
            <a:avLst>
              <a:gd name="adj" fmla="val 5000"/>
            </a:avLst>
          </a:prstGeom>
          <a:solidFill>
            <a:srgbClr val="F3F2EE"/>
          </a:solidFill>
          <a:ln w="11430">
            <a:solidFill>
              <a:srgbClr val="D6D5CF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9847" y="1856231"/>
            <a:ext cx="2813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展望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62415" y="2194560"/>
            <a:ext cx="13792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62415" y="2258568"/>
            <a:ext cx="1379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Helvetica Neue"/>
                <a:ea typeface="PingFang SC"/>
              </a:rPr>
              <a:t>工单获取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62415" y="2523744"/>
            <a:ext cx="1379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群聊、邮件整理成单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51363" y="2194560"/>
            <a:ext cx="13792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51363" y="2258568"/>
            <a:ext cx="1379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Helvetica Neue"/>
                <a:ea typeface="PingFang SC"/>
              </a:rPr>
              <a:t>会议纪要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51363" y="2523744"/>
            <a:ext cx="1379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会议记录转成待办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62415" y="2962656"/>
            <a:ext cx="13792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62415" y="3026663"/>
            <a:ext cx="1379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Helvetica Neue"/>
                <a:ea typeface="PingFang SC"/>
              </a:rPr>
              <a:t>报价评估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62415" y="3291839"/>
            <a:ext cx="1379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按影响范围估工作量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51363" y="2962656"/>
            <a:ext cx="13792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51363" y="3026663"/>
            <a:ext cx="1379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Helvetica Neue"/>
                <a:ea typeface="PingFang SC"/>
              </a:rPr>
              <a:t>回归测试推荐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51363" y="3291839"/>
            <a:ext cx="1379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按影响范围选用例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62415" y="3730752"/>
            <a:ext cx="13792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62415" y="3794760"/>
            <a:ext cx="1379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Helvetica Neue"/>
                <a:ea typeface="PingFang SC"/>
              </a:rPr>
              <a:t>项目交接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62415" y="4059936"/>
            <a:ext cx="1379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体检报告、新人上手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151363" y="3730752"/>
            <a:ext cx="13792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51363" y="3794760"/>
            <a:ext cx="1379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Helvetica Neue"/>
                <a:ea typeface="PingFang SC"/>
              </a:rPr>
              <a:t>功能模拟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51363" y="4059936"/>
            <a:ext cx="1379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需求未定先出样子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0096499" y="4526280"/>
            <a:ext cx="0" cy="182880"/>
          </a:xfrm>
          <a:prstGeom prst="line">
            <a:avLst/>
          </a:prstGeom>
          <a:ln w="12700">
            <a:solidFill>
              <a:srgbClr val="8EA6DA"/>
            </a:solidFill>
          </a:ln>
        </p:spPr>
      </p:cxnSp>
      <p:cxnSp>
        <p:nvCxnSpPr>
          <p:cNvPr id="66" name="Connector 65"/>
          <p:cNvCxnSpPr/>
          <p:nvPr/>
        </p:nvCxnSpPr>
        <p:spPr>
          <a:xfrm>
            <a:off x="3646932" y="4709160"/>
            <a:ext cx="6449567" cy="0"/>
          </a:xfrm>
          <a:prstGeom prst="line">
            <a:avLst/>
          </a:prstGeom>
          <a:ln w="12700">
            <a:solidFill>
              <a:srgbClr val="8EA6DA"/>
            </a:solidFill>
          </a:ln>
        </p:spPr>
      </p:cxnSp>
      <p:cxnSp>
        <p:nvCxnSpPr>
          <p:cNvPr id="67" name="Connector 66"/>
          <p:cNvCxnSpPr/>
          <p:nvPr/>
        </p:nvCxnSpPr>
        <p:spPr>
          <a:xfrm>
            <a:off x="6871716" y="4709160"/>
            <a:ext cx="0" cy="182880"/>
          </a:xfrm>
          <a:prstGeom prst="line">
            <a:avLst/>
          </a:prstGeom>
          <a:ln w="12700">
            <a:solidFill>
              <a:srgbClr val="1F4AA8"/>
            </a:solidFill>
            <a:tailEnd type="triangle" w="med" len="med"/>
          </a:ln>
        </p:spPr>
      </p:cxnSp>
      <p:sp>
        <p:nvSpPr>
          <p:cNvPr id="68" name="Rounded Rectangle 67"/>
          <p:cNvSpPr/>
          <p:nvPr/>
        </p:nvSpPr>
        <p:spPr>
          <a:xfrm>
            <a:off x="2103120" y="4892040"/>
            <a:ext cx="9537192" cy="566928"/>
          </a:xfrm>
          <a:prstGeom prst="roundRect">
            <a:avLst>
              <a:gd name="adj" fmla="val 15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86000" y="4892040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编码智能体编排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97679" y="4892040"/>
            <a:ext cx="71597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DCE4F5"/>
                </a:solidFill>
                <a:latin typeface="Helvetica Neue"/>
                <a:ea typeface="PingFang SC"/>
              </a:rPr>
              <a:t>任务受理   ·   问题定位   ·   方案规划   ·   开发执行   ·   验证审查   ·   人工验收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103120" y="5550407"/>
            <a:ext cx="9537192" cy="566928"/>
          </a:xfrm>
          <a:prstGeom prst="roundRect">
            <a:avLst>
              <a:gd name="adj" fmla="val 15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86000" y="5550407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AA8"/>
                </a:solidFill>
                <a:latin typeface="Helvetica Neue"/>
                <a:ea typeface="PingFang SC"/>
              </a:rPr>
              <a:t>代码知识库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97679" y="5550407"/>
            <a:ext cx="71597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业务地图   ·   代码证据   ·   项目知识页   ·   本地离线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应用场景 · 版本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以代码知识库为中心，15 个场景共用同一份项目理解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3384" y="134416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17352" y="1389888"/>
            <a:ext cx="201168" cy="1463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21824" y="134416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验证中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65792" y="1389888"/>
            <a:ext cx="201168" cy="146304"/>
          </a:xfrm>
          <a:prstGeom prst="roundRect">
            <a:avLst>
              <a:gd name="adj" fmla="val 20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70264" y="134416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已可用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14232" y="1389888"/>
            <a:ext cx="201168" cy="146304"/>
          </a:xfrm>
          <a:prstGeom prst="roundRect">
            <a:avLst>
              <a:gd name="adj" fmla="val 20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3063240"/>
            <a:ext cx="3502152" cy="2834640"/>
          </a:xfrm>
          <a:prstGeom prst="roundRect">
            <a:avLst>
              <a:gd name="adj" fmla="val 8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3291840"/>
            <a:ext cx="3044952" cy="1325880"/>
          </a:xfrm>
          <a:prstGeom prst="roundRect">
            <a:avLst>
              <a:gd name="adj" fmla="val 10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410712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  <a:ea typeface="PingFang SC"/>
              </a:rPr>
              <a:t>编码智能体编排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40480"/>
            <a:ext cx="28620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DCE4F5"/>
                </a:solidFill>
                <a:latin typeface="Helvetica Neue"/>
                <a:ea typeface="PingFang SC"/>
              </a:rPr>
              <a:t>任务受理 · 问题定位 · 方案规划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DCE4F5"/>
                </a:solidFill>
                <a:latin typeface="Helvetica Neue"/>
                <a:ea typeface="PingFang SC"/>
              </a:rPr>
              <a:t>开发执行 · 验证审查 · 人工验收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846320"/>
            <a:ext cx="3502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4AA8"/>
                </a:solidFill>
                <a:latin typeface="Helvetica Neue"/>
                <a:ea typeface="PingFang SC"/>
              </a:rPr>
              <a:t>代码知识库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5257800"/>
            <a:ext cx="3502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业务地图 · 代码证据 · 项目知识页 · 本地离线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783080"/>
            <a:ext cx="2148840" cy="60350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810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需求答复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07568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DCE4F5"/>
                </a:solidFill>
                <a:latin typeface="Helvetica Neue"/>
                <a:ea typeface="PingFang SC"/>
              </a:rPr>
              <a:t>群里答能不能做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2084831"/>
            <a:ext cx="1645920" cy="1527049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20" name="Rounded Rectangle 19"/>
          <p:cNvSpPr/>
          <p:nvPr/>
        </p:nvSpPr>
        <p:spPr>
          <a:xfrm>
            <a:off x="548640" y="2505456"/>
            <a:ext cx="2148840" cy="60350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5328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缺陷修复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79806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DCE4F5"/>
                </a:solidFill>
                <a:latin typeface="Helvetica Neue"/>
                <a:ea typeface="PingFang SC"/>
              </a:rPr>
              <a:t>定位、修改、交人验收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97480" y="2807208"/>
            <a:ext cx="1645920" cy="1170432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24" name="Rounded Rectangle 23"/>
          <p:cNvSpPr/>
          <p:nvPr/>
        </p:nvSpPr>
        <p:spPr>
          <a:xfrm>
            <a:off x="548640" y="3227832"/>
            <a:ext cx="2148840" cy="60350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5526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功能扩展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52044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DCE4F5"/>
                </a:solidFill>
                <a:latin typeface="Helvetica Neue"/>
                <a:ea typeface="PingFang SC"/>
              </a:rPr>
              <a:t>先出方案再实现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97480" y="3529584"/>
            <a:ext cx="1645920" cy="813816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28" name="Rounded Rectangle 27"/>
          <p:cNvSpPr/>
          <p:nvPr/>
        </p:nvSpPr>
        <p:spPr>
          <a:xfrm>
            <a:off x="548640" y="3950208"/>
            <a:ext cx="2148840" cy="60350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9776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告警开单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242816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DCE4F5"/>
                </a:solidFill>
                <a:latin typeface="Helvetica Neue"/>
                <a:ea typeface="PingFang SC"/>
              </a:rPr>
              <a:t>报错日志对到代码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97480" y="4251960"/>
            <a:ext cx="1645920" cy="457200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32" name="Rounded Rectangle 31"/>
          <p:cNvSpPr/>
          <p:nvPr/>
        </p:nvSpPr>
        <p:spPr>
          <a:xfrm>
            <a:off x="548640" y="4672584"/>
            <a:ext cx="2148840" cy="60350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70001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分批重构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965192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DCE4F5"/>
                </a:solidFill>
                <a:latin typeface="Helvetica Neue"/>
                <a:ea typeface="PingFang SC"/>
              </a:rPr>
              <a:t>按业务域分批升级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697480" y="4974336"/>
            <a:ext cx="1645920" cy="100584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36" name="Rounded Rectangle 35"/>
          <p:cNvSpPr/>
          <p:nvPr/>
        </p:nvSpPr>
        <p:spPr>
          <a:xfrm>
            <a:off x="548640" y="5394960"/>
            <a:ext cx="2148840" cy="60350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4223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提效报告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6875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DCE4F5"/>
                </a:solidFill>
                <a:latin typeface="Helvetica Neue"/>
                <a:ea typeface="PingFang SC"/>
              </a:rPr>
              <a:t>从工单流程自动统计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2697480" y="5440680"/>
            <a:ext cx="1645920" cy="256032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40" name="Rounded Rectangle 39"/>
          <p:cNvSpPr/>
          <p:nvPr/>
        </p:nvSpPr>
        <p:spPr>
          <a:xfrm>
            <a:off x="9491472" y="1783080"/>
            <a:ext cx="21488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91472" y="1810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Helvetica Neue"/>
                <a:ea typeface="PingFang SC"/>
              </a:rPr>
              <a:t>工单获取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1472" y="207568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群聊、邮件整理成单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7845552" y="2084831"/>
            <a:ext cx="1645920" cy="1527049"/>
          </a:xfrm>
          <a:prstGeom prst="line">
            <a:avLst/>
          </a:prstGeom>
          <a:ln w="9525">
            <a:solidFill>
              <a:srgbClr val="D6D5CF"/>
            </a:solidFill>
            <a:prstDash val="dash"/>
          </a:ln>
        </p:spPr>
      </p:cxnSp>
      <p:sp>
        <p:nvSpPr>
          <p:cNvPr id="44" name="Rounded Rectangle 43"/>
          <p:cNvSpPr/>
          <p:nvPr/>
        </p:nvSpPr>
        <p:spPr>
          <a:xfrm>
            <a:off x="9491472" y="2505456"/>
            <a:ext cx="21488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91472" y="25328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Helvetica Neue"/>
                <a:ea typeface="PingFang SC"/>
              </a:rPr>
              <a:t>会议纪要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91472" y="279806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会议记录转成待办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7845552" y="2807208"/>
            <a:ext cx="1645920" cy="1170432"/>
          </a:xfrm>
          <a:prstGeom prst="line">
            <a:avLst/>
          </a:prstGeom>
          <a:ln w="9525">
            <a:solidFill>
              <a:srgbClr val="D6D5CF"/>
            </a:solidFill>
            <a:prstDash val="dash"/>
          </a:ln>
        </p:spPr>
      </p:cxnSp>
      <p:sp>
        <p:nvSpPr>
          <p:cNvPr id="48" name="Rounded Rectangle 47"/>
          <p:cNvSpPr/>
          <p:nvPr/>
        </p:nvSpPr>
        <p:spPr>
          <a:xfrm>
            <a:off x="9491472" y="3227832"/>
            <a:ext cx="21488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91472" y="325526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Helvetica Neue"/>
                <a:ea typeface="PingFang SC"/>
              </a:rPr>
              <a:t>报价评估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91472" y="352044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按影响范围估工作量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7845552" y="3529584"/>
            <a:ext cx="1645920" cy="813816"/>
          </a:xfrm>
          <a:prstGeom prst="line">
            <a:avLst/>
          </a:prstGeom>
          <a:ln w="9525">
            <a:solidFill>
              <a:srgbClr val="D6D5CF"/>
            </a:solidFill>
            <a:prstDash val="dash"/>
          </a:ln>
        </p:spPr>
      </p:cxnSp>
      <p:sp>
        <p:nvSpPr>
          <p:cNvPr id="52" name="Rounded Rectangle 51"/>
          <p:cNvSpPr/>
          <p:nvPr/>
        </p:nvSpPr>
        <p:spPr>
          <a:xfrm>
            <a:off x="9491472" y="3950208"/>
            <a:ext cx="21488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91472" y="39776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Helvetica Neue"/>
                <a:ea typeface="PingFang SC"/>
              </a:rPr>
              <a:t>回归测试推荐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91472" y="4242816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按影响范围选用例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7845552" y="4251960"/>
            <a:ext cx="1645920" cy="457200"/>
          </a:xfrm>
          <a:prstGeom prst="line">
            <a:avLst/>
          </a:prstGeom>
          <a:ln w="9525">
            <a:solidFill>
              <a:srgbClr val="D6D5CF"/>
            </a:solidFill>
            <a:prstDash val="dash"/>
          </a:ln>
        </p:spPr>
      </p:cxnSp>
      <p:sp>
        <p:nvSpPr>
          <p:cNvPr id="56" name="Rounded Rectangle 55"/>
          <p:cNvSpPr/>
          <p:nvPr/>
        </p:nvSpPr>
        <p:spPr>
          <a:xfrm>
            <a:off x="9491472" y="4672584"/>
            <a:ext cx="21488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91472" y="470001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Helvetica Neue"/>
                <a:ea typeface="PingFang SC"/>
              </a:rPr>
              <a:t>项目交接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91472" y="4965192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体检报告、新人上手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7845552" y="4974336"/>
            <a:ext cx="1645920" cy="100584"/>
          </a:xfrm>
          <a:prstGeom prst="line">
            <a:avLst/>
          </a:prstGeom>
          <a:ln w="9525">
            <a:solidFill>
              <a:srgbClr val="D6D5CF"/>
            </a:solidFill>
            <a:prstDash val="dash"/>
          </a:ln>
        </p:spPr>
      </p:cxnSp>
      <p:sp>
        <p:nvSpPr>
          <p:cNvPr id="60" name="Rounded Rectangle 59"/>
          <p:cNvSpPr/>
          <p:nvPr/>
        </p:nvSpPr>
        <p:spPr>
          <a:xfrm>
            <a:off x="9491472" y="5394960"/>
            <a:ext cx="21488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91472" y="54223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Helvetica Neue"/>
                <a:ea typeface="PingFang SC"/>
              </a:rPr>
              <a:t>功能模拟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91472" y="56875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需求未定先出样子</a:t>
            </a:r>
          </a:p>
        </p:txBody>
      </p:sp>
      <p:cxnSp>
        <p:nvCxnSpPr>
          <p:cNvPr id="63" name="Connector 62"/>
          <p:cNvCxnSpPr/>
          <p:nvPr/>
        </p:nvCxnSpPr>
        <p:spPr>
          <a:xfrm flipH="1" flipV="1">
            <a:off x="7845552" y="5440680"/>
            <a:ext cx="1645920" cy="256032"/>
          </a:xfrm>
          <a:prstGeom prst="line">
            <a:avLst/>
          </a:prstGeom>
          <a:ln w="9525">
            <a:solidFill>
              <a:srgbClr val="D6D5CF"/>
            </a:solidFill>
            <a:prstDash val="dash"/>
          </a:ln>
        </p:spPr>
      </p:cxnSp>
      <p:sp>
        <p:nvSpPr>
          <p:cNvPr id="64" name="Rounded Rectangle 63"/>
          <p:cNvSpPr/>
          <p:nvPr/>
        </p:nvSpPr>
        <p:spPr>
          <a:xfrm>
            <a:off x="3076956" y="1965960"/>
            <a:ext cx="1920240" cy="603504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76956" y="1993391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4AA8"/>
                </a:solidFill>
                <a:latin typeface="Helvetica Neue"/>
                <a:ea typeface="PingFang SC"/>
              </a:rPr>
              <a:t>跨语言重写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76956" y="225856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Helvetica Neue"/>
                <a:ea typeface="PingFang SC"/>
              </a:rPr>
              <a:t>.NET 改写为 Java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037076" y="2569464"/>
            <a:ext cx="672084" cy="493776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68" name="Rounded Rectangle 67"/>
          <p:cNvSpPr/>
          <p:nvPr/>
        </p:nvSpPr>
        <p:spPr>
          <a:xfrm>
            <a:off x="5134356" y="1965960"/>
            <a:ext cx="1920240" cy="603504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34356" y="1993391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4AA8"/>
                </a:solidFill>
                <a:latin typeface="Helvetica Neue"/>
                <a:ea typeface="PingFang SC"/>
              </a:rPr>
              <a:t>历史工单回放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34356" y="225856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Helvetica Neue"/>
                <a:ea typeface="PingFang SC"/>
              </a:rPr>
              <a:t>评测找全率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094476" y="2569464"/>
            <a:ext cx="0" cy="493776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72" name="Rounded Rectangle 71"/>
          <p:cNvSpPr/>
          <p:nvPr/>
        </p:nvSpPr>
        <p:spPr>
          <a:xfrm>
            <a:off x="7191756" y="1965960"/>
            <a:ext cx="1920240" cy="603504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91756" y="1993391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4AA8"/>
                </a:solidFill>
                <a:latin typeface="Helvetica Neue"/>
                <a:ea typeface="PingFang SC"/>
              </a:rPr>
              <a:t>外部工单导入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91756" y="225856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Helvetica Neue"/>
                <a:ea typeface="PingFang SC"/>
              </a:rPr>
              <a:t>Jira、禅道同步</a:t>
            </a:r>
          </a:p>
        </p:txBody>
      </p:sp>
      <p:cxnSp>
        <p:nvCxnSpPr>
          <p:cNvPr id="75" name="Connector 74"/>
          <p:cNvCxnSpPr/>
          <p:nvPr/>
        </p:nvCxnSpPr>
        <p:spPr>
          <a:xfrm flipH="1">
            <a:off x="7479792" y="2569464"/>
            <a:ext cx="672084" cy="493776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应用场景 · 版本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从售前到交接，老系统的每个阶段都有对应的场景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3384" y="134416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17352" y="1389888"/>
            <a:ext cx="201168" cy="1463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21824" y="134416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验证中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65792" y="1389888"/>
            <a:ext cx="201168" cy="146304"/>
          </a:xfrm>
          <a:prstGeom prst="roundRect">
            <a:avLst>
              <a:gd name="adj" fmla="val 20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70264" y="134416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已可用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14232" y="1389888"/>
            <a:ext cx="201168" cy="146304"/>
          </a:xfrm>
          <a:prstGeom prst="roundRect">
            <a:avLst>
              <a:gd name="adj" fmla="val 20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1474796" cy="41148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售前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32580" y="4777740"/>
            <a:ext cx="9144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548640" y="3877056"/>
            <a:ext cx="1474796" cy="51206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77056"/>
            <a:ext cx="14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ea typeface="PingFang SC"/>
              </a:rPr>
              <a:t>需求答复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42232"/>
            <a:ext cx="14747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DCE4F5"/>
                </a:solidFill>
                <a:latin typeface="Helvetica Neue"/>
                <a:ea typeface="PingFang SC"/>
              </a:rPr>
              <a:t>群里答能不能做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39"/>
            <a:ext cx="1474796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39"/>
            <a:ext cx="14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报价评估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57015"/>
            <a:ext cx="14747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按影响范围估工作量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33164" y="4572000"/>
            <a:ext cx="1474796" cy="41148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需求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17105" y="4777740"/>
            <a:ext cx="9144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2133164" y="3877056"/>
            <a:ext cx="1474796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33164" y="3877056"/>
            <a:ext cx="14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工单获取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3164" y="4142232"/>
            <a:ext cx="14747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群聊、邮件整理成单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33164" y="3291839"/>
            <a:ext cx="1474796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33164" y="3291839"/>
            <a:ext cx="14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会议纪要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3164" y="3557015"/>
            <a:ext cx="14747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会议记录转成待办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33164" y="2706624"/>
            <a:ext cx="1474796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33164" y="2706624"/>
            <a:ext cx="14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功能模拟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3164" y="2971800"/>
            <a:ext cx="14747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需求未定先出样子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17689" y="4572000"/>
            <a:ext cx="1474796" cy="41148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开发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201629" y="4777740"/>
            <a:ext cx="9144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31" name="Rounded Rectangle 30"/>
          <p:cNvSpPr/>
          <p:nvPr/>
        </p:nvSpPr>
        <p:spPr>
          <a:xfrm>
            <a:off x="3717689" y="3877056"/>
            <a:ext cx="1474796" cy="51206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17689" y="3877056"/>
            <a:ext cx="14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ea typeface="PingFang SC"/>
              </a:rPr>
              <a:t>功能扩展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17689" y="4142232"/>
            <a:ext cx="14747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DCE4F5"/>
                </a:solidFill>
                <a:latin typeface="Helvetica Neue"/>
                <a:ea typeface="PingFang SC"/>
              </a:rPr>
              <a:t>先出方案再实现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2213" y="4572000"/>
            <a:ext cx="1474796" cy="41148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测试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786154" y="4777740"/>
            <a:ext cx="9144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36" name="Rounded Rectangle 35"/>
          <p:cNvSpPr/>
          <p:nvPr/>
        </p:nvSpPr>
        <p:spPr>
          <a:xfrm>
            <a:off x="5302213" y="3877056"/>
            <a:ext cx="1474796" cy="512064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2213" y="3877056"/>
            <a:ext cx="14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历史工单回放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2213" y="4142232"/>
            <a:ext cx="14747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2B2B2B"/>
                </a:solidFill>
                <a:latin typeface="Helvetica Neue"/>
                <a:ea typeface="PingFang SC"/>
              </a:rPr>
              <a:t>评测找全率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2213" y="3291839"/>
            <a:ext cx="1474796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2213" y="3291839"/>
            <a:ext cx="14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回归测试推荐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2213" y="3557015"/>
            <a:ext cx="14747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按影响范围选用例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86738" y="4572000"/>
            <a:ext cx="1474796" cy="41148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运维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370678" y="4777740"/>
            <a:ext cx="9144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44" name="Rounded Rectangle 43"/>
          <p:cNvSpPr/>
          <p:nvPr/>
        </p:nvSpPr>
        <p:spPr>
          <a:xfrm>
            <a:off x="6886738" y="3877056"/>
            <a:ext cx="1474796" cy="51206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86738" y="3877056"/>
            <a:ext cx="14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ea typeface="PingFang SC"/>
              </a:rPr>
              <a:t>缺陷修复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86738" y="4142232"/>
            <a:ext cx="14747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DCE4F5"/>
                </a:solidFill>
                <a:latin typeface="Helvetica Neue"/>
                <a:ea typeface="PingFang SC"/>
              </a:rPr>
              <a:t>定位、修改、交人验收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86738" y="3291839"/>
            <a:ext cx="1474796" cy="51206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86738" y="3291839"/>
            <a:ext cx="14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ea typeface="PingFang SC"/>
              </a:rPr>
              <a:t>告警开单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6738" y="3557015"/>
            <a:ext cx="14747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DCE4F5"/>
                </a:solidFill>
                <a:latin typeface="Helvetica Neue"/>
                <a:ea typeface="PingFang SC"/>
              </a:rPr>
              <a:t>报错日志对到代码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86738" y="2706624"/>
            <a:ext cx="1474796" cy="512064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86738" y="2706624"/>
            <a:ext cx="14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外部工单导入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86738" y="2971800"/>
            <a:ext cx="14747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2B2B2B"/>
                </a:solidFill>
                <a:latin typeface="Helvetica Neue"/>
                <a:ea typeface="PingFang SC"/>
              </a:rPr>
              <a:t>Jira、禅道同步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86738" y="2121408"/>
            <a:ext cx="1474796" cy="51206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86738" y="2121408"/>
            <a:ext cx="14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ea typeface="PingFang SC"/>
              </a:rPr>
              <a:t>提效报告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86738" y="2386584"/>
            <a:ext cx="14747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DCE4F5"/>
                </a:solidFill>
                <a:latin typeface="Helvetica Neue"/>
                <a:ea typeface="PingFang SC"/>
              </a:rPr>
              <a:t>从工单流程自动统计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71262" y="4572000"/>
            <a:ext cx="1474796" cy="41148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重构升级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955203" y="4777740"/>
            <a:ext cx="9144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58" name="Rounded Rectangle 57"/>
          <p:cNvSpPr/>
          <p:nvPr/>
        </p:nvSpPr>
        <p:spPr>
          <a:xfrm>
            <a:off x="8471262" y="3877056"/>
            <a:ext cx="1474796" cy="51206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71262" y="3877056"/>
            <a:ext cx="14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ea typeface="PingFang SC"/>
              </a:rPr>
              <a:t>分批重构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1262" y="4142232"/>
            <a:ext cx="14747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DCE4F5"/>
                </a:solidFill>
                <a:latin typeface="Helvetica Neue"/>
                <a:ea typeface="PingFang SC"/>
              </a:rPr>
              <a:t>按业务域分批升级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71262" y="3291839"/>
            <a:ext cx="1474796" cy="512064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71262" y="3291839"/>
            <a:ext cx="14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跨语言重写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71262" y="3557015"/>
            <a:ext cx="14747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2B2B2B"/>
                </a:solidFill>
                <a:latin typeface="Helvetica Neue"/>
                <a:ea typeface="PingFang SC"/>
              </a:rPr>
              <a:t>.NET 改写为 Java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055787" y="4572000"/>
            <a:ext cx="1474796" cy="41148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交接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055787" y="3877056"/>
            <a:ext cx="1474796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5787" y="3877056"/>
            <a:ext cx="14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项目交接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5787" y="4142232"/>
            <a:ext cx="14747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体检报告、新人上手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" y="5212080"/>
            <a:ext cx="11091672" cy="502920"/>
          </a:xfrm>
          <a:prstGeom prst="roundRect">
            <a:avLst>
              <a:gd name="adj" fmla="val 15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521208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PingFang SC"/>
              </a:rPr>
              <a:t>编码智能体编排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0" y="5212080"/>
            <a:ext cx="87142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DCE4F5"/>
                </a:solidFill>
                <a:latin typeface="Helvetica Neue"/>
                <a:ea typeface="PingFang SC"/>
              </a:rPr>
              <a:t>任务受理   ·   问题定位   ·   方案规划   ·   开发执行   ·   验证审查   ·   人工验收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640" y="5806440"/>
            <a:ext cx="11091672" cy="502920"/>
          </a:xfrm>
          <a:prstGeom prst="roundRect">
            <a:avLst>
              <a:gd name="adj" fmla="val 15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580644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AA8"/>
                </a:solidFill>
                <a:latin typeface="Helvetica Neue"/>
                <a:ea typeface="PingFang SC"/>
              </a:rPr>
              <a:t>代码知识库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5806440"/>
            <a:ext cx="87142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业务地图   ·   代码证据   ·   项目知识页   ·   本地离线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应用场景 · 版本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每类角色现在能用哪些场景，接下来还能用哪些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Helvetica Neue"/>
                <a:ea typeface="PingFang SC"/>
              </a:rPr>
              <a:t>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783080"/>
            <a:ext cx="35204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AA8"/>
                </a:solidFill>
                <a:latin typeface="Helvetica Neue"/>
                <a:ea typeface="PingFang SC"/>
              </a:rPr>
              <a:t>已可用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78308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AA8"/>
                </a:solidFill>
                <a:latin typeface="Helvetica Neue"/>
                <a:ea typeface="PingFang SC"/>
              </a:rPr>
              <a:t>验证中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783080"/>
            <a:ext cx="38679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AA8"/>
                </a:solidFill>
                <a:latin typeface="Helvetica Neue"/>
                <a:ea typeface="PingFang SC"/>
              </a:rPr>
              <a:t>展望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167128"/>
            <a:ext cx="11091672" cy="0"/>
          </a:xfrm>
          <a:prstGeom prst="line">
            <a:avLst/>
          </a:prstGeom>
          <a:ln w="12700">
            <a:solidFill>
              <a:srgbClr val="141414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40080" y="228600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售前与实施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359152"/>
            <a:ext cx="1097280" cy="493776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359152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ea typeface="PingFang SC"/>
              </a:rPr>
              <a:t>需求答复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359152"/>
            <a:ext cx="1097280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359152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报价评估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359152"/>
            <a:ext cx="1097280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2359152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会议纪要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359152"/>
            <a:ext cx="1097280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2359152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工单获取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971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40080" y="30175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开发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090672"/>
            <a:ext cx="1097280" cy="493776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090672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ea typeface="PingFang SC"/>
              </a:rPr>
              <a:t>缺陷修复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3090672"/>
            <a:ext cx="1097280" cy="493776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3090672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ea typeface="PingFang SC"/>
              </a:rPr>
              <a:t>功能扩展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3090672"/>
            <a:ext cx="1097280" cy="493776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3090672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ea typeface="PingFang SC"/>
              </a:rPr>
              <a:t>分批重构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090672"/>
            <a:ext cx="1097280" cy="493776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090672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跨语言重写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0" y="3090672"/>
            <a:ext cx="1097280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3090672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功能模拟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370332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40080" y="3749039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测试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822191"/>
            <a:ext cx="1097280" cy="493776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822191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历史工单回放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3822191"/>
            <a:ext cx="1097280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3822191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回归测试推荐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443484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640080" y="44805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运维与驻场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0" y="4553712"/>
            <a:ext cx="1097280" cy="493776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0" y="4553712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ea typeface="PingFang SC"/>
              </a:rPr>
              <a:t>告警开单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553712"/>
            <a:ext cx="1097280" cy="493776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4553712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外部工单导入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516636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640080" y="52120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项目经理与管理层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60320" y="5285232"/>
            <a:ext cx="1097280" cy="493776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0" y="5285232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 Neue"/>
                <a:ea typeface="PingFang SC"/>
              </a:rPr>
              <a:t>提效报告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80960" y="5285232"/>
            <a:ext cx="1097280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A9B0BC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0" y="5285232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项目交接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48640" y="589788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